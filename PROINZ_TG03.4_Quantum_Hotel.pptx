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  <p:sldMasterId id="2147483696" r:id="rId2"/>
  </p:sldMasterIdLst>
  <p:notesMasterIdLst>
    <p:notesMasterId r:id="rId20"/>
  </p:notesMasterIdLst>
  <p:sldIdLst>
    <p:sldId id="265" r:id="rId3"/>
    <p:sldId id="266" r:id="rId4"/>
    <p:sldId id="267" r:id="rId5"/>
    <p:sldId id="268" r:id="rId6"/>
    <p:sldId id="276" r:id="rId7"/>
    <p:sldId id="277" r:id="rId8"/>
    <p:sldId id="269" r:id="rId9"/>
    <p:sldId id="278" r:id="rId10"/>
    <p:sldId id="280" r:id="rId11"/>
    <p:sldId id="281" r:id="rId12"/>
    <p:sldId id="282" r:id="rId13"/>
    <p:sldId id="283" r:id="rId14"/>
    <p:sldId id="275" r:id="rId15"/>
    <p:sldId id="260" r:id="rId16"/>
    <p:sldId id="284" r:id="rId17"/>
    <p:sldId id="285" r:id="rId18"/>
    <p:sldId id="263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AD5A"/>
    <a:srgbClr val="540114"/>
    <a:srgbClr val="980226"/>
    <a:srgbClr val="852F41"/>
    <a:srgbClr val="9A3868"/>
    <a:srgbClr val="A2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5" autoAdjust="0"/>
    <p:restoredTop sz="97366" autoAdjust="0"/>
  </p:normalViewPr>
  <p:slideViewPr>
    <p:cSldViewPr snapToGrid="0">
      <p:cViewPr>
        <p:scale>
          <a:sx n="66" d="100"/>
          <a:sy n="66" d="100"/>
        </p:scale>
        <p:origin x="-96" y="336"/>
      </p:cViewPr>
      <p:guideLst/>
    </p:cSldViewPr>
  </p:slideViewPr>
  <p:outlineViewPr>
    <p:cViewPr>
      <p:scale>
        <a:sx n="33" d="100"/>
        <a:sy n="33" d="100"/>
      </p:scale>
      <p:origin x="0" y="-45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596D4-CB16-4BAD-83F6-7E8077D61F81}" type="datetimeFigureOut">
              <a:rPr lang="hr-HR" smtClean="0"/>
              <a:t>20.1.2026.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45738E-9CB8-443D-AC33-32367D54213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4078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0689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4034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list no need to elaborate in this stage!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7020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Navedite samo svoju viziju projektne ideje...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510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Triangle 32">
            <a:extLst>
              <a:ext uri="{FF2B5EF4-FFF2-40B4-BE49-F238E27FC236}">
                <a16:creationId xmlns:a16="http://schemas.microsoft.com/office/drawing/2014/main" id="{2A737799-F072-47E1-A678-5CE12F097D06}"/>
              </a:ext>
            </a:extLst>
          </p:cNvPr>
          <p:cNvSpPr/>
          <p:nvPr/>
        </p:nvSpPr>
        <p:spPr>
          <a:xfrm flipH="1">
            <a:off x="4496837" y="4722829"/>
            <a:ext cx="4644854" cy="2135171"/>
          </a:xfrm>
          <a:prstGeom prst="rtTriangle">
            <a:avLst/>
          </a:prstGeom>
          <a:blipFill dpi="0" rotWithShape="0">
            <a:blip r:embed="rId2"/>
            <a:srcRect/>
            <a:tile tx="0" ty="-393700" sx="100000" sy="100000" flip="none" algn="tl"/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1541283"/>
          </a:xfrm>
        </p:spPr>
        <p:txBody>
          <a:bodyPr lIns="252000" tIns="46800" rIns="252000" anchor="ctr">
            <a:normAutofit/>
          </a:bodyPr>
          <a:lstStyle>
            <a:lvl1pPr algn="ctr">
              <a:defRPr lang="en-US" sz="2800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13A86-3F68-4CBB-B661-B96A001B15BE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2AA1C2-ED49-4B0D-9C5A-6D47DFC70771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FC8746-DFC2-4DDF-B034-CED2ACE15704}"/>
                </a:ext>
              </a:extLst>
            </p:cNvPr>
            <p:cNvSpPr/>
            <p:nvPr userDrawn="1"/>
          </p:nvSpPr>
          <p:spPr>
            <a:xfrm rot="16200000">
              <a:off x="514859" y="-51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94884E1-E6D8-48CB-B7A9-438FB51C78F5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32F5CBCA-0AB8-4B6A-8A03-C549C7F3AE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9000"/>
          </a:blip>
          <a:srcRect l="13474" t="23715" r="15700" b="21450"/>
          <a:stretch/>
        </p:blipFill>
        <p:spPr>
          <a:xfrm>
            <a:off x="7499927" y="308066"/>
            <a:ext cx="1416947" cy="684000"/>
          </a:xfrm>
          <a:prstGeom prst="rect">
            <a:avLst/>
          </a:prstGeom>
        </p:spPr>
      </p:pic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304A50E9-593B-484E-BBFD-7D99ADECD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72"/>
          <a:stretch/>
        </p:blipFill>
        <p:spPr>
          <a:xfrm>
            <a:off x="629310" y="543433"/>
            <a:ext cx="2495116" cy="24634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E779F65-BFE6-4D96-B824-8575890A4185}"/>
              </a:ext>
            </a:extLst>
          </p:cNvPr>
          <p:cNvSpPr txBox="1"/>
          <p:nvPr/>
        </p:nvSpPr>
        <p:spPr>
          <a:xfrm>
            <a:off x="6299200" y="1668720"/>
            <a:ext cx="3155393" cy="64344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4D68C4-3DFA-4D90-89DF-550D8FB0DB2C}"/>
              </a:ext>
            </a:extLst>
          </p:cNvPr>
          <p:cNvGrpSpPr/>
          <p:nvPr/>
        </p:nvGrpSpPr>
        <p:grpSpPr>
          <a:xfrm>
            <a:off x="8541834" y="2712985"/>
            <a:ext cx="602166" cy="689744"/>
            <a:chOff x="8541834" y="2712985"/>
            <a:chExt cx="602166" cy="6897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91C753-BAAB-4424-9E32-3F1432529749}"/>
                </a:ext>
              </a:extLst>
            </p:cNvPr>
            <p:cNvSpPr/>
            <p:nvPr userDrawn="1"/>
          </p:nvSpPr>
          <p:spPr>
            <a:xfrm>
              <a:off x="9000000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6BC744-DC4B-4A55-B6FA-A711EC8ACF52}"/>
                </a:ext>
              </a:extLst>
            </p:cNvPr>
            <p:cNvSpPr/>
            <p:nvPr userDrawn="1"/>
          </p:nvSpPr>
          <p:spPr>
            <a:xfrm>
              <a:off x="8772874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AA3319-80CC-4953-81CC-A4C7D5063739}"/>
                </a:ext>
              </a:extLst>
            </p:cNvPr>
            <p:cNvSpPr/>
            <p:nvPr userDrawn="1"/>
          </p:nvSpPr>
          <p:spPr>
            <a:xfrm>
              <a:off x="8541834" y="2712985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9B169C9B-ABD9-49DB-8ECD-EBB51008CF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6472518" y="270901"/>
            <a:ext cx="836453" cy="8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217BDC-58CC-FADA-1B39-623F12755E0B}"/>
              </a:ext>
            </a:extLst>
          </p:cNvPr>
          <p:cNvSpPr txBox="1"/>
          <p:nvPr userDrawn="1"/>
        </p:nvSpPr>
        <p:spPr>
          <a:xfrm>
            <a:off x="2757249" y="3212658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A7A9A7D-F6F6-0F08-90E6-4F20750E9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292" y="5227023"/>
            <a:ext cx="777240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7721124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D65BC3-0390-487E-9343-57013C37910B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  <a:solidFill>
            <a:srgbClr val="FFB400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4361EC-AED8-4B86-B0D1-15361ACD5BB7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7164C5-7F89-48EA-9906-0AF23BCC4882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screenshot of a video game&#10;&#10;Description automatically generated">
            <a:extLst>
              <a:ext uri="{FF2B5EF4-FFF2-40B4-BE49-F238E27FC236}">
                <a16:creationId xmlns:a16="http://schemas.microsoft.com/office/drawing/2014/main" id="{400D0D9E-702E-4495-B908-117D903BB1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72"/>
          <a:stretch/>
        </p:blipFill>
        <p:spPr>
          <a:xfrm>
            <a:off x="7680632" y="120349"/>
            <a:ext cx="1276193" cy="1260000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E68E431-7FC2-47FC-A826-4B794B28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B4F37E-A6B4-4A59-A76A-E67F5B42B7AF}"/>
              </a:ext>
            </a:extLst>
          </p:cNvPr>
          <p:cNvCxnSpPr>
            <a:cxnSpLocks/>
          </p:cNvCxnSpPr>
          <p:nvPr/>
        </p:nvCxnSpPr>
        <p:spPr>
          <a:xfrm flipH="1">
            <a:off x="1071418" y="4581245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758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95554"/>
            <a:ext cx="7886700" cy="4931327"/>
          </a:xfrm>
        </p:spPr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 sz="2200"/>
            </a:lvl2pPr>
            <a:lvl3pPr marL="1143000" indent="-228600">
              <a:buFont typeface="Courier New" panose="02070309020205020404" pitchFamily="49" charset="0"/>
              <a:buChar char="o"/>
              <a:defRPr sz="1800"/>
            </a:lvl3pPr>
            <a:lvl4pPr marL="1600200" indent="-228600">
              <a:buFont typeface="Franklin Gothic Book" panose="020B0503020102020204" pitchFamily="34" charset="0"/>
              <a:buChar char="―"/>
              <a:defRPr sz="1600"/>
            </a:lvl4pPr>
            <a:lvl5pPr marL="2057400" indent="-2286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347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050AD4-29D0-47EA-9708-82FD8FAF1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C09F13D-5F40-4714-BA42-EFC264DE9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5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7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437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0" y="1"/>
            <a:ext cx="9144000" cy="1124744"/>
          </a:xfrm>
          <a:solidFill>
            <a:schemeClr val="bg1"/>
          </a:solidFill>
        </p:spPr>
        <p:txBody>
          <a:bodyPr/>
          <a:lstStyle>
            <a:lvl1pPr>
              <a:defRPr sz="4000"/>
            </a:lvl1pPr>
          </a:lstStyle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246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2997200"/>
            <a:ext cx="9144000" cy="122237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defRPr>
            </a:lvl1pPr>
          </a:lstStyle>
          <a:p>
            <a:r>
              <a:rPr lang="en-US" noProof="0"/>
              <a:t>Click to edit Master subtitle style</a:t>
            </a:r>
            <a:endParaRPr lang="hr-HR" noProof="0" dirty="0"/>
          </a:p>
        </p:txBody>
      </p:sp>
      <p:sp>
        <p:nvSpPr>
          <p:cNvPr id="170" name="Rectangle 325"/>
          <p:cNvSpPr>
            <a:spLocks noChangeArrowheads="1"/>
          </p:cNvSpPr>
          <p:nvPr/>
        </p:nvSpPr>
        <p:spPr bwMode="auto">
          <a:xfrm>
            <a:off x="0" y="3573463"/>
            <a:ext cx="9144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chemeClr val="hlink"/>
              </a:buClr>
              <a:buSzPct val="65000"/>
              <a:buFont typeface="Wingdings" pitchFamily="2" charset="2"/>
              <a:buNone/>
              <a:defRPr/>
            </a:pPr>
            <a:endParaRPr lang="hr-HR" sz="2800" noProof="0" dirty="0">
              <a:solidFill>
                <a:srgbClr val="FF990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358" y="5597395"/>
            <a:ext cx="619125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892974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19138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3282859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lank">
            <a:extLst>
              <a:ext uri="{FF2B5EF4-FFF2-40B4-BE49-F238E27FC236}">
                <a16:creationId xmlns:a16="http://schemas.microsoft.com/office/drawing/2014/main" id="{DF900481-7CD7-44CE-90E6-3583037D52D9}"/>
              </a:ext>
            </a:extLst>
          </p:cNvPr>
          <p:cNvSpPr/>
          <p:nvPr/>
        </p:nvSpPr>
        <p:spPr bwMode="auto">
          <a:xfrm>
            <a:off x="13527" y="-4384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3"/>
          </a:xfrm>
          <a:effectLst/>
        </p:spPr>
        <p:txBody>
          <a:bodyPr anchor="b" anchorCtr="1"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49" y="5227023"/>
            <a:ext cx="824516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1" name="UNI_Logo">
            <a:extLst>
              <a:ext uri="{FF2B5EF4-FFF2-40B4-BE49-F238E27FC236}">
                <a16:creationId xmlns:a16="http://schemas.microsoft.com/office/drawing/2014/main" id="{B60ABF21-F805-4F5C-9378-DA9D7D2CB64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606" t="17629" r="15252" b="19248"/>
          <a:stretch/>
        </p:blipFill>
        <p:spPr>
          <a:xfrm>
            <a:off x="6770836" y="262594"/>
            <a:ext cx="727345" cy="720000"/>
          </a:xfrm>
          <a:prstGeom prst="rect">
            <a:avLst/>
          </a:prstGeom>
        </p:spPr>
      </p:pic>
      <p:pic>
        <p:nvPicPr>
          <p:cNvPr id="12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EC1CAE0A-3E29-4F8A-A85F-FFEEA39080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9000"/>
          </a:blip>
          <a:srcRect l="13474" t="23715" r="15700" b="21450"/>
          <a:stretch/>
        </p:blipFill>
        <p:spPr>
          <a:xfrm>
            <a:off x="7629063" y="345375"/>
            <a:ext cx="1188000" cy="582400"/>
          </a:xfrm>
          <a:prstGeom prst="rect">
            <a:avLst/>
          </a:prstGeom>
        </p:spPr>
      </p:pic>
      <p:sp>
        <p:nvSpPr>
          <p:cNvPr id="13" name="Course">
            <a:extLst>
              <a:ext uri="{FF2B5EF4-FFF2-40B4-BE49-F238E27FC236}">
                <a16:creationId xmlns:a16="http://schemas.microsoft.com/office/drawing/2014/main" id="{606EE227-E1A4-48CD-8072-A5BFFE497034}"/>
              </a:ext>
            </a:extLst>
          </p:cNvPr>
          <p:cNvSpPr txBox="1"/>
          <p:nvPr/>
        </p:nvSpPr>
        <p:spPr>
          <a:xfrm>
            <a:off x="6309966" y="2336793"/>
            <a:ext cx="2398143" cy="56147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  <a:endParaRPr lang="en-US" sz="1200" noProof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5D7BB-0877-4A5C-8FF5-FD8D403DF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70" y="0"/>
            <a:ext cx="3204212" cy="27740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0074D2-401D-5430-6887-B383F93FE29E}"/>
              </a:ext>
            </a:extLst>
          </p:cNvPr>
          <p:cNvSpPr txBox="1"/>
          <p:nvPr userDrawn="1"/>
        </p:nvSpPr>
        <p:spPr>
          <a:xfrm>
            <a:off x="2757249" y="3266875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</p:spTree>
    <p:extLst>
      <p:ext uri="{BB962C8B-B14F-4D97-AF65-F5344CB8AC3E}">
        <p14:creationId xmlns:p14="http://schemas.microsoft.com/office/powerpoint/2010/main" val="20511837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97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2393953"/>
            <a:ext cx="8272211" cy="2147467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cap="all">
                <a:solidFill>
                  <a:schemeClr val="accent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2C86E-F1C7-46E0-95C6-696D16C6C694}" type="slidenum">
              <a:rPr lang="hr-HR" noProof="0" smtClean="0"/>
              <a:pPr>
                <a:defRPr/>
              </a:pPr>
              <a:t>‹#›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430365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999" y="972000"/>
            <a:ext cx="4680000" cy="5400000"/>
          </a:xfrm>
        </p:spPr>
        <p:txBody>
          <a:bodyPr>
            <a:normAutofit/>
          </a:bodyPr>
          <a:lstStyle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2030" y="972000"/>
            <a:ext cx="4259971" cy="5400000"/>
          </a:xfrm>
        </p:spPr>
        <p:txBody>
          <a:bodyPr>
            <a:normAutofit/>
          </a:bodyPr>
          <a:lstStyle>
            <a:lvl2pPr marL="396000" indent="-252000">
              <a:lnSpc>
                <a:spcPct val="100000"/>
              </a:lnSpc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3632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92000" y="-8857"/>
            <a:ext cx="7920000" cy="864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8" y="991413"/>
            <a:ext cx="4680000" cy="557784"/>
          </a:xfrm>
        </p:spPr>
        <p:txBody>
          <a:bodyPr anchor="ctr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8" y="1668252"/>
            <a:ext cx="4680000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12031" y="991417"/>
            <a:ext cx="4212288" cy="553373"/>
          </a:xfrm>
        </p:spPr>
        <p:txBody>
          <a:bodyPr anchor="ctr">
            <a:noAutofit/>
          </a:bodyPr>
          <a:lstStyle>
            <a:lvl1pPr marL="0" marR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marL="0" marR="0" lvl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12028" y="1663842"/>
            <a:ext cx="4212288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53283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6148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  <p:sp>
        <p:nvSpPr>
          <p:cNvPr id="5" name="Blank">
            <a:extLst>
              <a:ext uri="{FF2B5EF4-FFF2-40B4-BE49-F238E27FC236}">
                <a16:creationId xmlns:a16="http://schemas.microsoft.com/office/drawing/2014/main" id="{B6B16F86-9808-4367-B20B-899AF3F2BA32}"/>
              </a:ext>
            </a:extLst>
          </p:cNvPr>
          <p:cNvSpPr/>
          <p:nvPr/>
        </p:nvSpPr>
        <p:spPr bwMode="auto">
          <a:xfrm>
            <a:off x="0" y="0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365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1008824"/>
            <a:ext cx="2273889" cy="1722419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5698" y="1008824"/>
            <a:ext cx="4988243" cy="5294004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100">
                <a:solidFill>
                  <a:schemeClr val="tx2"/>
                </a:solidFill>
              </a:defRPr>
            </a:lvl4pPr>
            <a:lvl5pPr>
              <a:defRPr sz="1100">
                <a:solidFill>
                  <a:schemeClr val="tx2"/>
                </a:solidFill>
              </a:defRPr>
            </a:lvl5pPr>
            <a:lvl6pPr>
              <a:defRPr sz="788">
                <a:solidFill>
                  <a:schemeClr val="tx2"/>
                </a:solidFill>
              </a:defRPr>
            </a:lvl6pPr>
            <a:lvl7pPr>
              <a:defRPr sz="788">
                <a:solidFill>
                  <a:schemeClr val="tx2"/>
                </a:solidFill>
              </a:defRPr>
            </a:lvl7pPr>
            <a:lvl8pPr>
              <a:defRPr sz="788">
                <a:solidFill>
                  <a:schemeClr val="tx2"/>
                </a:solidFill>
              </a:defRPr>
            </a:lvl8pPr>
            <a:lvl9pPr>
              <a:defRPr sz="788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5894" y="2836656"/>
            <a:ext cx="2273889" cy="3466175"/>
          </a:xfrm>
        </p:spPr>
        <p:txBody>
          <a:bodyPr anchor="t">
            <a:normAutofit/>
          </a:bodyPr>
          <a:lstStyle>
            <a:lvl1pPr marL="0" indent="0" algn="l">
              <a:buNone/>
              <a:defRPr sz="900">
                <a:solidFill>
                  <a:srgbClr val="FFFFFF"/>
                </a:solidFill>
              </a:defRPr>
            </a:lvl1pPr>
            <a:lvl2pPr marL="257175" indent="0">
              <a:buNone/>
              <a:defRPr sz="619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5" y="6456919"/>
            <a:ext cx="2133599" cy="365125"/>
          </a:xfrm>
        </p:spPr>
        <p:txBody>
          <a:bodyPr/>
          <a:lstStyle/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231" y="6452593"/>
            <a:ext cx="4836571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6" y="6456919"/>
            <a:ext cx="789383" cy="365125"/>
          </a:xfrm>
        </p:spPr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468548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7929" y="1042141"/>
            <a:ext cx="8468144" cy="3485610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27"/>
            <a:ext cx="8272213" cy="998148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99510302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5124846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043613" y="599725"/>
            <a:ext cx="2765487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53150" y="863600"/>
            <a:ext cx="234315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863600"/>
            <a:ext cx="5371219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34901" y="457200"/>
            <a:ext cx="277749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3181373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77989066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9EB10-FBF8-4CBA-B026-F8DE91FF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3" y="123825"/>
            <a:ext cx="8999537" cy="533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16ABA-433E-479F-BD29-1C844B0A1F5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50" y="1052513"/>
            <a:ext cx="4168775" cy="5043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Online Image Placeholder 3">
            <a:extLst>
              <a:ext uri="{FF2B5EF4-FFF2-40B4-BE49-F238E27FC236}">
                <a16:creationId xmlns:a16="http://schemas.microsoft.com/office/drawing/2014/main" id="{B4264813-3E43-478F-B65D-0BC0200A93E3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>
          <a:xfrm>
            <a:off x="4683125" y="1052513"/>
            <a:ext cx="4168775" cy="5043487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1678076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5A3D-D87F-4AF2-BA78-EC513449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1643063"/>
            <a:ext cx="8964612" cy="5619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B210-E8A1-4163-B353-9596A4987A6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79388" y="2349500"/>
            <a:ext cx="4316412" cy="395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5EE46-BB07-40D1-BA76-9A68CCF90965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2349500"/>
            <a:ext cx="4316413" cy="1903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13EFCE-9805-4C10-9F35-FE6B61EEEB78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4405313"/>
            <a:ext cx="4316413" cy="1903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9D8B36-6841-48AB-ACDD-303377A5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4438" y="6453188"/>
            <a:ext cx="1773237" cy="319087"/>
          </a:xfrm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7546225-D832-45D6-9D1F-C2C298013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53188"/>
            <a:ext cx="2895600" cy="319087"/>
          </a:xfrm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93AD3A-68A5-4246-9D01-4FF480FA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450" y="6440488"/>
            <a:ext cx="2133600" cy="319087"/>
          </a:xfrm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71035309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E4BB-D381-461E-98CE-EC214FB2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250"/>
            <a:ext cx="8153400" cy="704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5E26-D24E-448B-A60D-AC4ADA32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295400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580C4-0743-475D-99BC-A08C21692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55600" y="3832225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07078345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id="{33B67453-1C01-4A88-9B88-0395558C4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59563"/>
            <a:ext cx="9144000" cy="198437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B15CA-4405-4999-8824-E5B89AB2F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" y="5734050"/>
            <a:ext cx="85090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sr-Latn-RS" altLang="sr-Latn-RS" sz="1800" b="0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1604BB0-89C9-40DD-B4C1-65ECA21B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638175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7" name="Line 12">
            <a:extLst>
              <a:ext uri="{FF2B5EF4-FFF2-40B4-BE49-F238E27FC236}">
                <a16:creationId xmlns:a16="http://schemas.microsoft.com/office/drawing/2014/main" id="{EEC9831C-2EE5-4AB4-811F-0FD7517A5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500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FB57BD19-2365-4510-B140-A8BF4601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66115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E9247816-F8A1-437D-8876-CE3B543F5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9175" y="6689725"/>
            <a:ext cx="504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E3A00050-2AD2-4E24-A959-018DA26B4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2125" y="6376988"/>
            <a:ext cx="844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240486D-8BBC-4E5F-AE3E-87568EC3A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2038" y="6626225"/>
            <a:ext cx="60642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fld id="{5487ECC7-754E-4F59-8E24-696A1ED399B9}" type="slidenum">
              <a:rPr lang="de-DE" altLang="sr-Latn-RS" sz="1000" b="0" smtClean="0">
                <a:solidFill>
                  <a:schemeClr val="bg1"/>
                </a:solidFill>
              </a:rPr>
              <a:pPr eaLnBrk="1" hangingPunct="1">
                <a:defRPr/>
              </a:pPr>
              <a:t>‹#›</a:t>
            </a:fld>
            <a:endParaRPr lang="de-DE" altLang="sr-Latn-RS" sz="1000" b="0" dirty="0">
              <a:solidFill>
                <a:schemeClr val="bg1"/>
              </a:solidFill>
            </a:endParaRPr>
          </a:p>
        </p:txBody>
      </p:sp>
      <p:pic>
        <p:nvPicPr>
          <p:cNvPr id="12" name="Picture 9" descr="MCAST">
            <a:extLst>
              <a:ext uri="{FF2B5EF4-FFF2-40B4-BE49-F238E27FC236}">
                <a16:creationId xmlns:a16="http://schemas.microsoft.com/office/drawing/2014/main" id="{5EBDEE4A-5D09-433E-904F-F1650F13C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3313" y="185738"/>
            <a:ext cx="1484312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EE17B41-E6B1-4669-AD1B-D326DFF0B618}"/>
              </a:ext>
            </a:extLst>
          </p:cNvPr>
          <p:cNvSpPr txBox="1"/>
          <p:nvPr/>
        </p:nvSpPr>
        <p:spPr>
          <a:xfrm>
            <a:off x="0" y="6657975"/>
            <a:ext cx="9144000" cy="214313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15000"/>
              </a:lnSpc>
              <a:spcAft>
                <a:spcPts val="1000"/>
              </a:spcAft>
              <a:defRPr/>
            </a:pPr>
            <a:r>
              <a:rPr lang="en-US" sz="700" b="0" dirty="0">
                <a:ea typeface="Times New Roman"/>
                <a:cs typeface="Times New Roman"/>
              </a:rPr>
              <a:t>A Vocational Degree programme developed by MCAST and Fraunhofer IAO.</a:t>
            </a:r>
            <a:endParaRPr lang="de-DE" sz="700" b="0" dirty="0">
              <a:ea typeface="Times New Roman"/>
              <a:cs typeface="Times New Roman"/>
            </a:endParaRPr>
          </a:p>
        </p:txBody>
      </p:sp>
      <p:pic>
        <p:nvPicPr>
          <p:cNvPr id="14" name="Grafik 13" descr="C:\Dokumente und Einstellungen\sahin\Desktop\iao_85mm_p334.png">
            <a:extLst>
              <a:ext uri="{FF2B5EF4-FFF2-40B4-BE49-F238E27FC236}">
                <a16:creationId xmlns:a16="http://schemas.microsoft.com/office/drawing/2014/main" id="{118DF992-D6B3-42BA-B7AF-94ADD5D83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155575"/>
            <a:ext cx="138430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Inhaltsplatzhalter 14"/>
          <p:cNvSpPr>
            <a:spLocks noGrp="1"/>
          </p:cNvSpPr>
          <p:nvPr>
            <p:ph sz="quarter" idx="10"/>
          </p:nvPr>
        </p:nvSpPr>
        <p:spPr>
          <a:xfrm>
            <a:off x="372122" y="1917577"/>
            <a:ext cx="8443404" cy="447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081" y="859963"/>
            <a:ext cx="8422689" cy="755773"/>
          </a:xfrm>
        </p:spPr>
        <p:txBody>
          <a:bodyPr anchor="b"/>
          <a:lstStyle>
            <a:lvl1pPr algn="ctr">
              <a:defRPr sz="2200" smtClean="0">
                <a:latin typeface="Arial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240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50938" y="533400"/>
            <a:ext cx="7793037" cy="769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0" y="1676400"/>
            <a:ext cx="9144000" cy="4456113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  <a:endParaRPr lang="es-ES" noProof="0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878ED30-4CA5-4F36-903B-BB1F88A7DC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3616777E-FC54-4224-94BE-6841457432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2A5E6CE-E56A-416E-B8B3-DBFD0971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645687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2387600"/>
          </a:xfrm>
        </p:spPr>
        <p:txBody>
          <a:bodyPr lIns="252000" tIns="46800" rIns="252000"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8284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540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80548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0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" y="972000"/>
            <a:ext cx="9000000" cy="540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63534" y="6501038"/>
            <a:ext cx="940649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20.1.2026.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8803" y="6501039"/>
            <a:ext cx="6759654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9260" y="6501038"/>
            <a:ext cx="475056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89CEFA33-B437-4AA3-8275-93D2FF8194BB}"/>
              </a:ext>
            </a:extLst>
          </p:cNvPr>
          <p:cNvSpPr>
            <a:spLocks noChangeArrowheads="1"/>
          </p:cNvSpPr>
          <p:nvPr/>
        </p:nvSpPr>
        <p:spPr bwMode="gray">
          <a:xfrm>
            <a:off x="71999" y="887249"/>
            <a:ext cx="9000000" cy="45719"/>
          </a:xfrm>
          <a:prstGeom prst="rect">
            <a:avLst/>
          </a:prstGeom>
          <a:gradFill rotWithShape="0">
            <a:gsLst>
              <a:gs pos="3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73C7DFB0-5E2B-4809-9C0B-ED751F99515E}"/>
              </a:ext>
            </a:extLst>
          </p:cNvPr>
          <p:cNvSpPr>
            <a:spLocks noChangeArrowheads="1"/>
          </p:cNvSpPr>
          <p:nvPr/>
        </p:nvSpPr>
        <p:spPr bwMode="gray">
          <a:xfrm>
            <a:off x="2" y="6816222"/>
            <a:ext cx="9143999" cy="36000"/>
          </a:xfrm>
          <a:prstGeom prst="rect">
            <a:avLst/>
          </a:prstGeom>
          <a:gradFill rotWithShape="0">
            <a:gsLst>
              <a:gs pos="3000">
                <a:schemeClr val="bg1">
                  <a:alpha val="56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FB4C7E3-BB36-4260-BA39-D064CCA029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94" y="171448"/>
            <a:ext cx="697230" cy="548640"/>
          </a:xfrm>
          <a:prstGeom prst="rect">
            <a:avLst/>
          </a:prstGeom>
        </p:spPr>
      </p:pic>
      <p:pic>
        <p:nvPicPr>
          <p:cNvPr id="24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5090067-1575-4BA5-A613-FCA8F5BA830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79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5" r="15700" b="21450"/>
          <a:stretch/>
        </p:blipFill>
        <p:spPr>
          <a:xfrm>
            <a:off x="8469403" y="296918"/>
            <a:ext cx="634769" cy="3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1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ctr" defTabSz="257175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2000" indent="-252000" algn="l" defTabSz="257175" rtl="0" eaLnBrk="1" latinLnBrk="0" hangingPunct="1">
        <a:lnSpc>
          <a:spcPct val="110000"/>
        </a:lnSpc>
        <a:spcBef>
          <a:spcPts val="5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400" kern="1200">
          <a:ln>
            <a:noFill/>
          </a:ln>
          <a:solidFill>
            <a:schemeClr val="tx1"/>
          </a:solidFill>
          <a:latin typeface="+mn-lt"/>
          <a:ea typeface="+mn-ea"/>
          <a:cs typeface="+mn-cs"/>
        </a:defRPr>
      </a:lvl1pPr>
      <a:lvl2pPr marL="396000" indent="-252000" algn="l" defTabSz="257175" rtl="0" eaLnBrk="1" latinLnBrk="0" hangingPunct="1">
        <a:spcBef>
          <a:spcPts val="4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625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986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11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87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6pPr>
      <a:lvl7pPr marL="12375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7pPr>
      <a:lvl8pPr marL="14062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8pPr>
      <a:lvl9pPr marL="15750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slide" Target="slide3.xml"/><Relationship Id="rId7" Type="http://schemas.openxmlformats.org/officeDocument/2006/relationships/slide" Target="slide1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slide" Target="slide9.xml"/><Relationship Id="rId5" Type="http://schemas.openxmlformats.org/officeDocument/2006/relationships/slide" Target="slide5.xml"/><Relationship Id="rId10" Type="http://schemas.openxmlformats.org/officeDocument/2006/relationships/slide" Target="slide17.xml"/><Relationship Id="rId4" Type="http://schemas.openxmlformats.org/officeDocument/2006/relationships/slide" Target="slide4.xml"/><Relationship Id="rId9" Type="http://schemas.openxmlformats.org/officeDocument/2006/relationships/slide" Target="slide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r-HR" sz="4000" dirty="0" err="1">
                <a:solidFill>
                  <a:srgbClr val="D8AD5A"/>
                </a:solidFill>
                <a:latin typeface="Amiri Quran" panose="00000500000000000000" pitchFamily="2" charset="-78"/>
                <a:cs typeface="Amiri Quran" panose="00000500000000000000" pitchFamily="2" charset="-78"/>
              </a:rPr>
              <a:t>Quantum</a:t>
            </a:r>
            <a:r>
              <a:rPr lang="hr-HR" sz="4000" dirty="0">
                <a:latin typeface="Amiri Quran" panose="00000500000000000000" pitchFamily="2" charset="-78"/>
                <a:cs typeface="Amiri Quran" panose="00000500000000000000" pitchFamily="2" charset="-78"/>
              </a:rPr>
              <a:t> </a:t>
            </a:r>
            <a:r>
              <a:rPr lang="hr-HR" sz="4000" dirty="0">
                <a:solidFill>
                  <a:srgbClr val="D8AD5A"/>
                </a:solidFill>
                <a:latin typeface="Amiri Quran" panose="00000500000000000000" pitchFamily="2" charset="-78"/>
                <a:cs typeface="Amiri Quran" panose="00000500000000000000" pitchFamily="2" charset="-78"/>
              </a:rPr>
              <a:t>HOTEL</a:t>
            </a:r>
            <a:endParaRPr lang="hr-HR" sz="4000" noProof="0" dirty="0">
              <a:solidFill>
                <a:srgbClr val="D8AD5A"/>
              </a:solidFill>
              <a:latin typeface="Amiri Quran" panose="00000500000000000000" pitchFamily="2" charset="-78"/>
              <a:cs typeface="Amiri Quran" panose="000005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9DD34-BFD2-8305-42BF-AA42E093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4665" y="5227023"/>
            <a:ext cx="7981725" cy="727184"/>
          </a:xfrm>
        </p:spPr>
        <p:txBody>
          <a:bodyPr>
            <a:normAutofit/>
          </a:bodyPr>
          <a:lstStyle/>
          <a:p>
            <a:r>
              <a:rPr lang="hr-HR" sz="1400" noProof="0" dirty="0">
                <a:solidFill>
                  <a:srgbClr val="D8AD5A"/>
                </a:solidFill>
              </a:rPr>
              <a:t>Tim:  TG </a:t>
            </a:r>
            <a:r>
              <a:rPr lang="hr-HR" sz="1400" dirty="0">
                <a:solidFill>
                  <a:srgbClr val="D8AD5A"/>
                </a:solidFill>
              </a:rPr>
              <a:t>03</a:t>
            </a:r>
            <a:r>
              <a:rPr lang="hr-HR" sz="1400" noProof="0" dirty="0">
                <a:solidFill>
                  <a:srgbClr val="D8AD5A"/>
                </a:solidFill>
              </a:rPr>
              <a:t>.</a:t>
            </a:r>
            <a:r>
              <a:rPr lang="hr-HR" sz="1400" dirty="0">
                <a:solidFill>
                  <a:srgbClr val="D8AD5A"/>
                </a:solidFill>
              </a:rPr>
              <a:t>4</a:t>
            </a:r>
            <a:r>
              <a:rPr lang="hr-HR" sz="1400" noProof="0" dirty="0">
                <a:solidFill>
                  <a:srgbClr val="D8AD5A"/>
                </a:solidFill>
              </a:rPr>
              <a:t> Sinovi pobjede</a:t>
            </a:r>
          </a:p>
          <a:p>
            <a:r>
              <a:rPr lang="hr-HR" sz="1400" noProof="0" dirty="0">
                <a:solidFill>
                  <a:srgbClr val="D8AD5A"/>
                </a:solidFill>
              </a:rPr>
              <a:t>Ak. god. 2025./2026.</a:t>
            </a:r>
            <a:r>
              <a:rPr lang="hr-HR" noProof="0" dirty="0"/>
              <a:t>.</a:t>
            </a:r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3DEDC933-A0D5-4B08-8DDC-A20B3592C69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89" t="9901" r="22969" b="39287"/>
          <a:stretch/>
        </p:blipFill>
        <p:spPr>
          <a:xfrm>
            <a:off x="3620327" y="988992"/>
            <a:ext cx="1930400" cy="1805007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5784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solidFill>
                  <a:srgbClr val="D8AD5A"/>
                </a:solidFill>
              </a:rPr>
              <a:t>Sadržaj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6CB0F54-7862-2508-EDB2-877BCE433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999" y="1245038"/>
            <a:ext cx="9000000" cy="5400000"/>
          </a:xfrm>
        </p:spPr>
        <p:txBody>
          <a:bodyPr/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Članovi tima</a:t>
            </a:r>
            <a:endParaRPr lang="hr-HR" noProof="0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Cilj projekta i opis zadatka</a:t>
            </a:r>
            <a:endParaRPr lang="hr-HR" noProof="0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</a:rPr>
              <a:t>Analiza i oblikovanje sustava	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Zahtjevi</a:t>
            </a:r>
            <a:endParaRPr lang="hr-HR" noProof="0" dirty="0">
              <a:solidFill>
                <a:srgbClr val="D8AD5A"/>
              </a:solidFill>
            </a:endParaRP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Arhitektura</a:t>
            </a:r>
            <a:endParaRPr lang="hr-HR" noProof="0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Ispitivanje</a:t>
            </a:r>
            <a:endParaRPr lang="hr-HR" dirty="0">
              <a:solidFill>
                <a:srgbClr val="D8AD5A"/>
              </a:solidFill>
              <a:hlinkClick r:id="rId8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Korišteni alati i tehnologije</a:t>
            </a:r>
            <a:endParaRPr lang="hr-HR" noProof="0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Organizacija rada </a:t>
            </a:r>
            <a:endParaRPr lang="hr-HR" noProof="0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Iskustva</a:t>
            </a:r>
            <a:endParaRPr lang="hr-HR" noProof="0" dirty="0">
              <a:solidFill>
                <a:srgbClr val="D8AD5A"/>
              </a:solidFill>
            </a:endParaRP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pPr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712565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CC5E-8F0C-4678-41F6-563B723DD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260" y="14700"/>
            <a:ext cx="7920000" cy="828262"/>
          </a:xfrm>
        </p:spPr>
        <p:txBody>
          <a:bodyPr/>
          <a:lstStyle/>
          <a:p>
            <a:r>
              <a:rPr lang="hr-HR" noProof="0" dirty="0">
                <a:solidFill>
                  <a:srgbClr val="D8AD5A"/>
                </a:solidFill>
              </a:rPr>
              <a:t>Članovi </a:t>
            </a:r>
            <a:r>
              <a:rPr lang="hr-HR" dirty="0">
                <a:solidFill>
                  <a:srgbClr val="D8AD5A"/>
                </a:solidFill>
              </a:rPr>
              <a:t>tima</a:t>
            </a:r>
            <a:endParaRPr lang="hr-HR" noProof="0" dirty="0">
              <a:solidFill>
                <a:srgbClr val="D8AD5A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85B14-6D23-2394-890E-2F2CE0684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Fran</a:t>
            </a:r>
            <a:r>
              <a:rPr lang="hr-HR" dirty="0">
                <a:solidFill>
                  <a:srgbClr val="D8AD5A"/>
                </a:solidFill>
              </a:rPr>
              <a:t> Bistrović – voditelj projekta, </a:t>
            </a:r>
            <a:r>
              <a:rPr lang="hr-HR" dirty="0" err="1">
                <a:solidFill>
                  <a:srgbClr val="D8AD5A"/>
                </a:solidFill>
              </a:rPr>
              <a:t>backend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Dina </a:t>
            </a:r>
            <a:r>
              <a:rPr lang="hr-HR" dirty="0" err="1">
                <a:solidFill>
                  <a:srgbClr val="D8AD5A"/>
                </a:solidFill>
              </a:rPr>
              <a:t>Janđel</a:t>
            </a:r>
            <a:r>
              <a:rPr lang="hr-HR" dirty="0">
                <a:solidFill>
                  <a:srgbClr val="D8AD5A"/>
                </a:solidFill>
              </a:rPr>
              <a:t> – dizajn, </a:t>
            </a:r>
            <a:r>
              <a:rPr lang="hr-HR" dirty="0" err="1">
                <a:solidFill>
                  <a:srgbClr val="D8AD5A"/>
                </a:solidFill>
              </a:rPr>
              <a:t>frontend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Nina Jurić – dokumentacija, </a:t>
            </a:r>
            <a:r>
              <a:rPr lang="hr-HR" dirty="0" err="1">
                <a:solidFill>
                  <a:srgbClr val="D8AD5A"/>
                </a:solidFill>
              </a:rPr>
              <a:t>frontend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Lukas</a:t>
            </a:r>
            <a:r>
              <a:rPr lang="hr-HR" dirty="0">
                <a:solidFill>
                  <a:srgbClr val="D8AD5A"/>
                </a:solidFill>
              </a:rPr>
              <a:t> Kraljić – </a:t>
            </a:r>
            <a:r>
              <a:rPr lang="hr-HR" dirty="0" err="1">
                <a:solidFill>
                  <a:srgbClr val="D8AD5A"/>
                </a:solidFill>
              </a:rPr>
              <a:t>backend</a:t>
            </a:r>
            <a:r>
              <a:rPr lang="hr-HR" dirty="0">
                <a:solidFill>
                  <a:srgbClr val="D8AD5A"/>
                </a:solidFill>
              </a:rPr>
              <a:t>, </a:t>
            </a:r>
            <a:r>
              <a:rPr lang="hr-HR" dirty="0" err="1">
                <a:solidFill>
                  <a:srgbClr val="D8AD5A"/>
                </a:solidFill>
              </a:rPr>
              <a:t>DevOps</a:t>
            </a:r>
            <a:r>
              <a:rPr lang="hr-HR" dirty="0">
                <a:solidFill>
                  <a:srgbClr val="D8AD5A"/>
                </a:solidFill>
              </a:rPr>
              <a:t> inženjer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Marko Majstorović – baza podataka, </a:t>
            </a:r>
            <a:r>
              <a:rPr lang="hr-HR" dirty="0" err="1">
                <a:solidFill>
                  <a:srgbClr val="D8AD5A"/>
                </a:solidFill>
              </a:rPr>
              <a:t>backend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Marija Špoljarić – dokumentacija, </a:t>
            </a:r>
            <a:r>
              <a:rPr lang="hr-HR" dirty="0" err="1">
                <a:solidFill>
                  <a:srgbClr val="D8AD5A"/>
                </a:solidFill>
              </a:rPr>
              <a:t>frontend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Matija Tušek – dokumentacija, </a:t>
            </a:r>
            <a:r>
              <a:rPr lang="hr-HR" dirty="0" err="1">
                <a:solidFill>
                  <a:srgbClr val="D8AD5A"/>
                </a:solidFill>
              </a:rPr>
              <a:t>backend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endParaRPr lang="hr-HR" dirty="0">
              <a:solidFill>
                <a:srgbClr val="D8AD5A"/>
              </a:solidFill>
            </a:endParaRPr>
          </a:p>
          <a:p>
            <a:pPr marL="0" indent="0">
              <a:buClr>
                <a:srgbClr val="D8AD5A"/>
              </a:buClr>
              <a:buNone/>
            </a:pPr>
            <a:r>
              <a:rPr lang="hr-HR" dirty="0">
                <a:solidFill>
                  <a:srgbClr val="D8AD5A"/>
                </a:solidFill>
              </a:rPr>
              <a:t>**uloge su se ponekad ispreplitale, u ispitivanju i izradi dokumentacije sudjelovali su svi članovi tima</a:t>
            </a:r>
          </a:p>
          <a:p>
            <a:pPr marL="0" indent="0">
              <a:buNone/>
            </a:pP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E38AF-35BC-BD40-AC94-1AB4341B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35151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A0B7E-6D2D-545E-3942-807E5763C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/>
          <a:lstStyle/>
          <a:p>
            <a:r>
              <a:rPr lang="hr-HR" noProof="0" dirty="0">
                <a:solidFill>
                  <a:srgbClr val="D8AD5A"/>
                </a:solidFill>
              </a:rPr>
              <a:t>O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DC0A7-2EBE-B97D-F71C-97BD62047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8" y="972000"/>
            <a:ext cx="9072001" cy="5817038"/>
          </a:xfrm>
        </p:spPr>
        <p:txBody>
          <a:bodyPr>
            <a:normAutofit fontScale="70000" lnSpcReduction="20000"/>
          </a:bodyPr>
          <a:lstStyle/>
          <a:p>
            <a:r>
              <a:rPr lang="sr-Latn-RS" altLang="sr-Latn-RS" b="1" i="1" dirty="0">
                <a:solidFill>
                  <a:srgbClr val="D8AD5A"/>
                </a:solidFill>
              </a:rPr>
              <a:t>Glavna svrha: </a:t>
            </a:r>
            <a:r>
              <a:rPr lang="sr-Latn-RS" altLang="sr-Latn-RS" dirty="0" err="1">
                <a:solidFill>
                  <a:srgbClr val="D8AD5A"/>
                </a:solidFill>
              </a:rPr>
              <a:t>rješavanje</a:t>
            </a:r>
            <a:r>
              <a:rPr lang="sr-Latn-RS" altLang="sr-Latn-RS" dirty="0">
                <a:solidFill>
                  <a:srgbClr val="D8AD5A"/>
                </a:solidFill>
              </a:rPr>
              <a:t> problema hotelskog poslovanja</a:t>
            </a:r>
          </a:p>
          <a:p>
            <a:pPr lvl="0"/>
            <a:endParaRPr lang="sr-Latn-RS" altLang="sr-Latn-RS" b="1" dirty="0">
              <a:solidFill>
                <a:srgbClr val="D8AD5A"/>
              </a:solidFill>
            </a:endParaRPr>
          </a:p>
          <a:p>
            <a:pPr lvl="0"/>
            <a:r>
              <a:rPr lang="sr-Latn-RS" altLang="sr-Latn-RS" b="1" i="1" dirty="0">
                <a:solidFill>
                  <a:srgbClr val="D8AD5A"/>
                </a:solidFill>
              </a:rPr>
              <a:t>Osnovne funkcionalnost:</a:t>
            </a:r>
          </a:p>
          <a:p>
            <a:pPr lvl="0"/>
            <a:r>
              <a:rPr lang="sr-Latn-RS" altLang="sr-Latn-RS" dirty="0">
                <a:solidFill>
                  <a:srgbClr val="D8AD5A"/>
                </a:solidFill>
              </a:rPr>
              <a:t>pregledna početna stranica koja nudi mogućnost prijave/registracije i pregleda određenih usluga hotela</a:t>
            </a:r>
          </a:p>
          <a:p>
            <a:pPr lvl="0"/>
            <a:r>
              <a:rPr lang="sr-Latn-RS" altLang="sr-Latn-RS" dirty="0">
                <a:solidFill>
                  <a:srgbClr val="D8AD5A"/>
                </a:solidFill>
              </a:rPr>
              <a:t>uređivanje korisničkog profila</a:t>
            </a:r>
          </a:p>
          <a:p>
            <a:pPr lvl="0"/>
            <a:r>
              <a:rPr lang="sr-Latn-RS" altLang="sr-Latn-RS" dirty="0">
                <a:solidFill>
                  <a:srgbClr val="D8AD5A"/>
                </a:solidFill>
              </a:rPr>
              <a:t>pregled </a:t>
            </a:r>
            <a:r>
              <a:rPr lang="sr-Latn-RS" altLang="sr-Latn-RS" dirty="0" err="1">
                <a:solidFill>
                  <a:srgbClr val="D8AD5A"/>
                </a:solidFill>
              </a:rPr>
              <a:t>smještajnih</a:t>
            </a:r>
            <a:r>
              <a:rPr lang="sr-Latn-RS" altLang="sr-Latn-RS" dirty="0">
                <a:solidFill>
                  <a:srgbClr val="D8AD5A"/>
                </a:solidFill>
              </a:rPr>
              <a:t> jedinica i dodatnih usluga (doručak, parking itd.) koje hotel nudi</a:t>
            </a:r>
          </a:p>
          <a:p>
            <a:pPr lvl="0"/>
            <a:r>
              <a:rPr lang="sr-Latn-RS" altLang="sr-Latn-RS" dirty="0">
                <a:solidFill>
                  <a:srgbClr val="D8AD5A"/>
                </a:solidFill>
              </a:rPr>
              <a:t>rezervacija sobe</a:t>
            </a:r>
          </a:p>
          <a:p>
            <a:pPr lvl="0"/>
            <a:r>
              <a:rPr lang="sr-Latn-RS" altLang="sr-Latn-RS" dirty="0">
                <a:solidFill>
                  <a:srgbClr val="D8AD5A"/>
                </a:solidFill>
              </a:rPr>
              <a:t>omogućeno dodavanje sadržaja hotela ovlaštenom osoblju i administratoru</a:t>
            </a:r>
          </a:p>
          <a:p>
            <a:pPr lvl="0"/>
            <a:r>
              <a:rPr lang="sr-Latn-RS" altLang="sr-Latn-RS" dirty="0">
                <a:solidFill>
                  <a:srgbClr val="D8AD5A"/>
                </a:solidFill>
              </a:rPr>
              <a:t>prikaz lokacije hotela na interaktivnoj karti</a:t>
            </a:r>
          </a:p>
          <a:p>
            <a:pPr lvl="0"/>
            <a:r>
              <a:rPr lang="sr-Latn-RS" altLang="sr-Latn-RS" dirty="0">
                <a:solidFill>
                  <a:srgbClr val="D8AD5A"/>
                </a:solidFill>
              </a:rPr>
              <a:t>uvid u statistiku hotela za administratora</a:t>
            </a:r>
          </a:p>
          <a:p>
            <a:pPr lvl="0"/>
            <a:endParaRPr lang="hr-HR" altLang="sr-Latn-RS" b="1" dirty="0">
              <a:solidFill>
                <a:srgbClr val="D8AD5A"/>
              </a:solidFill>
            </a:endParaRPr>
          </a:p>
          <a:p>
            <a:pPr lvl="0"/>
            <a:r>
              <a:rPr lang="hr-HR" altLang="sr-Latn-RS" b="1" i="1" dirty="0">
                <a:solidFill>
                  <a:srgbClr val="D8AD5A"/>
                </a:solidFill>
              </a:rPr>
              <a:t>Slično rješenje:</a:t>
            </a:r>
          </a:p>
          <a:p>
            <a:pPr lvl="0"/>
            <a:r>
              <a:rPr lang="hr-HR" altLang="sr-Latn-RS" dirty="0">
                <a:solidFill>
                  <a:srgbClr val="D8AD5A"/>
                </a:solidFill>
              </a:rPr>
              <a:t>Postoji, gotovo svaki hotel ima mogućnost online rezervacije, npr. lanac hotela Blue Sun </a:t>
            </a:r>
            <a:r>
              <a:rPr lang="hr-HR" altLang="sr-Latn-RS" dirty="0" err="1">
                <a:solidFill>
                  <a:srgbClr val="D8AD5A"/>
                </a:solidFill>
              </a:rPr>
              <a:t>Hotels</a:t>
            </a:r>
            <a:endParaRPr lang="hr-HR" altLang="sr-Latn-RS" dirty="0">
              <a:solidFill>
                <a:srgbClr val="D8AD5A"/>
              </a:solidFill>
            </a:endParaRPr>
          </a:p>
          <a:p>
            <a:pPr lvl="0"/>
            <a:r>
              <a:rPr lang="hr-HR" altLang="sr-Latn-RS" b="1" i="1" dirty="0">
                <a:solidFill>
                  <a:srgbClr val="D8AD5A"/>
                </a:solidFill>
              </a:rPr>
              <a:t>Naša prednost:</a:t>
            </a:r>
          </a:p>
          <a:p>
            <a:pPr lvl="0"/>
            <a:r>
              <a:rPr lang="hr-HR" dirty="0" err="1">
                <a:solidFill>
                  <a:srgbClr val="D8AD5A"/>
                </a:solidFill>
              </a:rPr>
              <a:t>Quantum</a:t>
            </a:r>
            <a:r>
              <a:rPr lang="hr-HR" dirty="0">
                <a:solidFill>
                  <a:srgbClr val="D8AD5A"/>
                </a:solidFill>
              </a:rPr>
              <a:t> Hotel osmišljen kao univerzalna i cjelovita platforma (informacijski sustav) koju može implementirati bilo koji hotel, neovisno o svojoj veličini</a:t>
            </a:r>
          </a:p>
          <a:p>
            <a:pPr lvl="0"/>
            <a:r>
              <a:rPr lang="hr-HR" altLang="sr-Latn-RS" dirty="0">
                <a:solidFill>
                  <a:srgbClr val="D8AD5A"/>
                </a:solidFill>
              </a:rPr>
              <a:t>komunikacija s korisnikom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24A85-3B76-EBCB-772E-CD8CF316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9260" y="6501038"/>
            <a:ext cx="475056" cy="288000"/>
          </a:xfrm>
        </p:spPr>
        <p:txBody>
          <a:bodyPr/>
          <a:lstStyle/>
          <a:p>
            <a:fld id="{FAA41844-C0CA-4144-9D6C-D993F0C0FAB4}" type="slidenum">
              <a:rPr lang="hr-HR" smtClean="0"/>
              <a:pPr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39409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F11B799-3F87-4396-8701-97C4D6A5B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99" y="36000"/>
            <a:ext cx="7549361" cy="936000"/>
          </a:xfrm>
        </p:spPr>
        <p:txBody>
          <a:bodyPr>
            <a:normAutofit fontScale="90000"/>
          </a:bodyPr>
          <a:lstStyle/>
          <a:p>
            <a:r>
              <a:rPr lang="hr-HR" dirty="0">
                <a:solidFill>
                  <a:srgbClr val="D8AD5A"/>
                </a:solidFill>
              </a:rPr>
              <a:t>PREGLED ZAHTJEVA – Funkcionalni zahtjevi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5DDA15A-DCBC-46AA-A72B-7EA7621C4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684" y="1101038"/>
            <a:ext cx="9000000" cy="5400000"/>
          </a:xfrm>
        </p:spPr>
        <p:txBody>
          <a:bodyPr>
            <a:normAutofit fontScale="92500" lnSpcReduction="20000"/>
          </a:bodyPr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Prijava i registracija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Promjena korisničkih podataka (ime, prezime, mjesto stanovanja, dob, spol, lozinka)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Interakcija s Google </a:t>
            </a:r>
            <a:r>
              <a:rPr lang="hr-HR" dirty="0" err="1">
                <a:solidFill>
                  <a:srgbClr val="D8AD5A"/>
                </a:solidFill>
              </a:rPr>
              <a:t>Maps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Pregled odgovora na često postavljena pitanja (FAQ)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Postavljanje vlastitih pitanja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Odabir željenog termina, broja osoba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Rezervacija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Izmjena/potvrda/odbijanje rezervacija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Unos/ažuriranje smještajnih jedinica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Unos/ažuriranje dodatnih usluga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Izvješće o noćenjima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Mogućnost preuzimanja podataka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E02B5C2B-81A8-4A13-AEFC-3D8BF2CAA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8740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75DC0B3-653E-4B8F-87CD-787ACC449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42240" y="-251840"/>
            <a:ext cx="9214239" cy="1440560"/>
          </a:xfrm>
        </p:spPr>
        <p:txBody>
          <a:bodyPr>
            <a:normAutofit/>
          </a:bodyPr>
          <a:lstStyle/>
          <a:p>
            <a:r>
              <a:rPr lang="hr-HR" sz="2400" dirty="0">
                <a:solidFill>
                  <a:srgbClr val="D8AD5A"/>
                </a:solidFill>
              </a:rPr>
              <a:t>Pregled zahtjeva - NEFUNKCIONALNI ZAHTJEVI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F5B9BDCE-F90B-486D-B2F8-2941C659C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1" y="1187518"/>
            <a:ext cx="9000000" cy="5601520"/>
          </a:xfrm>
        </p:spPr>
        <p:txBody>
          <a:bodyPr>
            <a:normAutofit fontScale="92500" lnSpcReduction="20000"/>
          </a:bodyPr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Sustav treba biti oblikovan tako da omogućuje jednostavno održavanje i nadogradnju.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Vrijeme učitavanja i korištenja stranice / aplikacije mora biti prihvatljivo.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Sustav mora podržavati velik broj istovremenih korisnika bez značajnog narušavanja performansi i funkcionalnosti.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Sustav treba imati dovoljnu dokumentaciju.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Osjetljivi podaci korisnika moraju biti zaštićeni pristupnim kontrolama i dostupni samo ovlaštenim korisnicima.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Korisničko sučelje mora biti intuitivno i jednostavno za upotrebu.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Web stranica mora imati </a:t>
            </a:r>
            <a:r>
              <a:rPr lang="hr-HR" dirty="0" err="1">
                <a:solidFill>
                  <a:srgbClr val="D8AD5A"/>
                </a:solidFill>
              </a:rPr>
              <a:t>responzivan</a:t>
            </a:r>
            <a:r>
              <a:rPr lang="hr-HR" dirty="0">
                <a:solidFill>
                  <a:srgbClr val="D8AD5A"/>
                </a:solidFill>
              </a:rPr>
              <a:t> dizajn i biti prilagođena za mobilne uređaje.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Sustav mora biti konstantno dostupan za upotrebu (barem 99% vremena).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Održavanje se provodi u neaktivnim satovima radi </a:t>
            </a:r>
            <a:r>
              <a:rPr lang="hr-HR" dirty="0" err="1">
                <a:solidFill>
                  <a:srgbClr val="D8AD5A"/>
                </a:solidFill>
              </a:rPr>
              <a:t>minimizacije</a:t>
            </a:r>
            <a:r>
              <a:rPr lang="hr-HR" dirty="0">
                <a:solidFill>
                  <a:srgbClr val="D8AD5A"/>
                </a:solidFill>
              </a:rPr>
              <a:t> nedostupnosti sustava.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F68AE150-9A7F-4BEE-9F08-36884486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77337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194B-73FA-DAD6-728F-E14212BE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noProof="0" dirty="0">
                <a:solidFill>
                  <a:srgbClr val="D8AD5A"/>
                </a:solidFill>
              </a:rPr>
              <a:t>UML dijagram obrazaca uporabe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CEC8-0F4C-E99E-FC93-F08F526E7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7</a:t>
            </a:fld>
            <a:endParaRPr lang="hr-HR" dirty="0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249AA518-774C-4052-837E-8674CAFDC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384" y="1096316"/>
            <a:ext cx="5461232" cy="5548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4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104C7C1-D612-4B19-922F-2E6D44790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296641" y="1011360"/>
            <a:ext cx="7920000" cy="828262"/>
          </a:xfrm>
        </p:spPr>
        <p:txBody>
          <a:bodyPr>
            <a:normAutofit/>
          </a:bodyPr>
          <a:lstStyle/>
          <a:p>
            <a:r>
              <a:rPr lang="hr-HR" sz="2000" dirty="0">
                <a:solidFill>
                  <a:srgbClr val="D8AD5A"/>
                </a:solidFill>
              </a:rPr>
              <a:t>Sekvencijski dijagram</a:t>
            </a:r>
            <a:br>
              <a:rPr lang="hr-HR" sz="2000" dirty="0">
                <a:solidFill>
                  <a:srgbClr val="D8AD5A"/>
                </a:solidFill>
              </a:rPr>
            </a:br>
            <a:r>
              <a:rPr lang="hr-HR" sz="2000" dirty="0">
                <a:solidFill>
                  <a:srgbClr val="D8AD5A"/>
                </a:solidFill>
              </a:rPr>
              <a:t> - rezervacija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6D204348-BFCE-4EAC-B6EA-76B325B57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8</a:t>
            </a:fld>
            <a:endParaRPr lang="hr-HR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01EC2EC7-50AD-4844-AD89-975B2EDF18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7067" y="124465"/>
            <a:ext cx="5200433" cy="619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986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F010693-500B-4D43-83D8-EF171E35D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rgbClr val="D8AD5A"/>
                </a:solidFill>
              </a:rPr>
              <a:t>Arhitektura sustava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5D622DE-FF3D-4D44-860D-5E5B30AA0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00" y="1101038"/>
            <a:ext cx="9000000" cy="5400000"/>
          </a:xfrm>
        </p:spPr>
        <p:txBody>
          <a:bodyPr>
            <a:normAutofit/>
          </a:bodyPr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klijent-poslužitelj (</a:t>
            </a:r>
            <a:r>
              <a:rPr lang="hr-HR" dirty="0" err="1">
                <a:solidFill>
                  <a:srgbClr val="D8AD5A"/>
                </a:solidFill>
              </a:rPr>
              <a:t>client</a:t>
            </a:r>
            <a:r>
              <a:rPr lang="hr-HR" dirty="0">
                <a:solidFill>
                  <a:srgbClr val="D8AD5A"/>
                </a:solidFill>
              </a:rPr>
              <a:t>-server) arhitektonski stil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MVC (Model–</a:t>
            </a:r>
            <a:r>
              <a:rPr lang="hr-HR" dirty="0" err="1">
                <a:solidFill>
                  <a:srgbClr val="D8AD5A"/>
                </a:solidFill>
              </a:rPr>
              <a:t>View</a:t>
            </a:r>
            <a:r>
              <a:rPr lang="hr-HR" dirty="0">
                <a:solidFill>
                  <a:srgbClr val="D8AD5A"/>
                </a:solidFill>
              </a:rPr>
              <a:t>–</a:t>
            </a:r>
            <a:r>
              <a:rPr lang="hr-HR" dirty="0" err="1">
                <a:solidFill>
                  <a:srgbClr val="D8AD5A"/>
                </a:solidFill>
              </a:rPr>
              <a:t>Controller</a:t>
            </a:r>
            <a:r>
              <a:rPr lang="hr-HR" dirty="0">
                <a:solidFill>
                  <a:srgbClr val="D8AD5A"/>
                </a:solidFill>
              </a:rPr>
              <a:t>) obrazac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b="1" i="1" dirty="0">
                <a:solidFill>
                  <a:srgbClr val="D8AD5A"/>
                </a:solidFill>
              </a:rPr>
              <a:t>Podsustavi: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Autentifikacijski</a:t>
            </a:r>
            <a:r>
              <a:rPr lang="hr-HR" dirty="0">
                <a:solidFill>
                  <a:srgbClr val="D8AD5A"/>
                </a:solidFill>
              </a:rPr>
              <a:t> podsustav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Podsustav za upravljanje profilima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Podsustav za hotelsko poslovanje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Podsustav za hotelsku statistiku</a:t>
            </a:r>
          </a:p>
          <a:p>
            <a:endParaRPr lang="hr-HR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28D37FE6-8CB8-4D7E-B183-D6750923D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58873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65B766E-18CF-40F3-86E5-CB5363F48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rgbClr val="D8AD5A"/>
                </a:solidFill>
              </a:rPr>
              <a:t>Dijagram komponenti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FF0A8987-6F23-4A98-8261-CD87DFA1B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10</a:t>
            </a:fld>
            <a:endParaRPr lang="hr-HR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25098C25-6FC6-40E4-BF8A-F4D20E505E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080" y="650679"/>
            <a:ext cx="6669839" cy="6063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533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0C50499-AA46-4C57-9507-6D2A40FC2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rgbClr val="D8AD5A"/>
                </a:solidFill>
              </a:rPr>
              <a:t>Dijagram razmještaja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D51F7390-18F6-4C80-9CD3-C80319A86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11</a:t>
            </a:fld>
            <a:endParaRPr lang="hr-HR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39A20954-2904-4E15-AE4C-4A956F1FC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925" y="709838"/>
            <a:ext cx="5987555" cy="600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002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D390D5A-C40E-461B-A245-E3AF1B85B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967201" y="1509200"/>
            <a:ext cx="7920000" cy="828262"/>
          </a:xfrm>
        </p:spPr>
        <p:txBody>
          <a:bodyPr>
            <a:normAutofit fontScale="90000"/>
          </a:bodyPr>
          <a:lstStyle/>
          <a:p>
            <a:r>
              <a:rPr lang="hr-HR" dirty="0">
                <a:solidFill>
                  <a:srgbClr val="D8AD5A"/>
                </a:solidFill>
              </a:rPr>
              <a:t>Dijagram</a:t>
            </a:r>
            <a:br>
              <a:rPr lang="hr-HR" dirty="0">
                <a:solidFill>
                  <a:srgbClr val="D8AD5A"/>
                </a:solidFill>
              </a:rPr>
            </a:br>
            <a:r>
              <a:rPr lang="hr-HR" dirty="0">
                <a:solidFill>
                  <a:srgbClr val="D8AD5A"/>
                </a:solidFill>
              </a:rPr>
              <a:t> razreda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8ED556BE-84B6-478F-8184-4CE0137D4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12</a:t>
            </a:fld>
            <a:endParaRPr lang="hr-HR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5552D127-C145-404C-BBF8-236A4501CB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751" y="68962"/>
            <a:ext cx="7139249" cy="665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340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solidFill>
                  <a:srgbClr val="D8AD5A"/>
                </a:solidFill>
              </a:rPr>
              <a:t>Ispitivanje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03D6B-82AC-E000-ED08-E246EC190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04" y="1101038"/>
            <a:ext cx="9000000" cy="5400000"/>
          </a:xfrm>
        </p:spPr>
        <p:txBody>
          <a:bodyPr/>
          <a:lstStyle/>
          <a:p>
            <a:pPr marL="0" indent="0">
              <a:buClr>
                <a:srgbClr val="D8AD5A"/>
              </a:buClr>
              <a:buNone/>
            </a:pPr>
            <a:r>
              <a:rPr lang="hr-HR" sz="3200" b="1" dirty="0">
                <a:solidFill>
                  <a:srgbClr val="D8AD5A"/>
                </a:solidFill>
              </a:rPr>
              <a:t>Organizacija ispitivanja: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endParaRPr lang="hr-HR" sz="3200" b="1" dirty="0">
              <a:solidFill>
                <a:srgbClr val="D8AD5A"/>
              </a:solidFill>
            </a:endParaRPr>
          </a:p>
          <a:p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13</a:t>
            </a:fld>
            <a:endParaRPr lang="hr-HR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31B5D8C-D040-405E-8E92-8AEA9430F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404" y="4131159"/>
            <a:ext cx="5870710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sr-Latn-RS" altLang="sr-Latn-RS" sz="2400" i="0" u="none" strike="noStrike" cap="none" normalizeH="0" baseline="0" dirty="0">
              <a:ln>
                <a:noFill/>
              </a:ln>
              <a:solidFill>
                <a:srgbClr val="D8AD5A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sr-Latn-RS" altLang="sr-Latn-RS" sz="2400" i="0" u="none" strike="noStrike" cap="none" normalizeH="0" baseline="0" dirty="0">
              <a:ln>
                <a:noFill/>
              </a:ln>
              <a:solidFill>
                <a:srgbClr val="D8AD5A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sr-Latn-RS" altLang="sr-Latn-RS" sz="3200" b="1" dirty="0">
                <a:solidFill>
                  <a:srgbClr val="D8AD5A"/>
                </a:solidFill>
              </a:rPr>
              <a:t>Opseg ispitivanja:</a:t>
            </a:r>
            <a:endParaRPr kumimoji="0" lang="sr-Latn-RS" altLang="sr-Latn-RS" sz="3200" b="1" i="0" u="none" strike="noStrike" cap="none" normalizeH="0" baseline="0" dirty="0">
              <a:ln>
                <a:noFill/>
              </a:ln>
              <a:solidFill>
                <a:srgbClr val="D8AD5A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D8AD5A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sr-Latn-RS" altLang="sr-Latn-RS" sz="240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Ispitivanje komponenti: </a:t>
            </a:r>
            <a:r>
              <a:rPr kumimoji="0" lang="sr-Latn-RS" altLang="sr-Latn-RS" sz="2400" b="1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22</a:t>
            </a:r>
            <a:r>
              <a:rPr kumimoji="0" lang="sr-Latn-RS" altLang="sr-Latn-RS" sz="240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</a:t>
            </a:r>
            <a:r>
              <a:rPr kumimoji="0" lang="sr-Latn-RS" altLang="sr-Latn-RS" sz="2400" i="0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testna</a:t>
            </a:r>
            <a:r>
              <a:rPr kumimoji="0" lang="sr-Latn-RS" altLang="sr-Latn-RS" sz="240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slučaja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D8AD5A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sr-Latn-RS" altLang="sr-Latn-RS" sz="240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Ispitivanje sustava: </a:t>
            </a:r>
            <a:r>
              <a:rPr kumimoji="0" lang="sr-Latn-RS" altLang="sr-Latn-RS" sz="2400" b="1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5</a:t>
            </a:r>
            <a:r>
              <a:rPr kumimoji="0" lang="sr-Latn-RS" altLang="sr-Latn-RS" sz="240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</a:t>
            </a:r>
            <a:r>
              <a:rPr kumimoji="0" lang="sr-Latn-RS" altLang="sr-Latn-RS" sz="2400" i="0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testnih</a:t>
            </a:r>
            <a:r>
              <a:rPr kumimoji="0" lang="sr-Latn-RS" altLang="sr-Latn-RS" sz="240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slučajeva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2F7536D-09CC-40BA-8025-6B5AADAAF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404" y="1644096"/>
            <a:ext cx="863824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D8AD5A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sr-Latn-RS" altLang="sr-Latn-RS" sz="2400" b="1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Ispitivanje komponenti</a:t>
            </a:r>
            <a:r>
              <a:rPr kumimoji="0" lang="sr-Latn-RS" altLang="sr-Latn-RS" sz="2400" b="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ostvareno pomoću alata </a:t>
            </a:r>
            <a:r>
              <a:rPr kumimoji="0" lang="sr-Latn-RS" altLang="sr-Latn-RS" sz="2400" b="1" i="1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JUnit</a:t>
            </a:r>
            <a:r>
              <a:rPr kumimoji="0" lang="sr-Latn-RS" altLang="sr-Latn-RS" sz="2400" b="1" i="1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5</a:t>
            </a:r>
            <a:r>
              <a:rPr kumimoji="0" lang="sr-Latn-RS" altLang="sr-Latn-RS" sz="2400" b="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uz </a:t>
            </a:r>
            <a:r>
              <a:rPr kumimoji="0" lang="sr-Latn-RS" altLang="sr-Latn-RS" sz="2400" b="0" i="0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korištenje</a:t>
            </a:r>
            <a:r>
              <a:rPr kumimoji="0" lang="sr-Latn-RS" altLang="sr-Latn-RS" sz="2400" b="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biblioteke </a:t>
            </a:r>
            <a:r>
              <a:rPr kumimoji="0" lang="sr-Latn-RS" altLang="sr-Latn-RS" sz="2400" b="1" i="1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Mockito</a:t>
            </a:r>
            <a:endParaRPr lang="sr-Latn-RS" altLang="sr-Latn-RS" sz="2400" i="1" dirty="0">
              <a:solidFill>
                <a:srgbClr val="D8AD5A"/>
              </a:solidFill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D8AD5A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sr-Latn-RS" altLang="sr-Latn-RS" sz="2400" b="1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Ispitivanje integracije</a:t>
            </a:r>
            <a:r>
              <a:rPr kumimoji="0" lang="sr-Latn-RS" altLang="sr-Latn-RS" sz="2400" b="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ostvareno pomoću </a:t>
            </a:r>
            <a:r>
              <a:rPr kumimoji="0" lang="sr-Latn-RS" altLang="sr-Latn-RS" sz="2400" b="1" i="1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Spring</a:t>
            </a:r>
            <a:r>
              <a:rPr kumimoji="0" lang="sr-Latn-RS" altLang="sr-Latn-RS" sz="2400" b="1" i="1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</a:t>
            </a:r>
            <a:r>
              <a:rPr kumimoji="0" lang="sr-Latn-RS" altLang="sr-Latn-RS" sz="2400" b="1" i="1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Boot</a:t>
            </a:r>
            <a:r>
              <a:rPr kumimoji="0" lang="sr-Latn-RS" altLang="sr-Latn-RS" sz="2400" b="1" i="1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Test</a:t>
            </a:r>
            <a:r>
              <a:rPr kumimoji="0" lang="sr-Latn-RS" altLang="sr-Latn-RS" sz="2400" b="0" i="1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</a:t>
            </a:r>
            <a:r>
              <a:rPr kumimoji="0" lang="sr-Latn-RS" altLang="sr-Latn-RS" sz="2400" b="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okvira u kombinaciji s alatom </a:t>
            </a:r>
            <a:r>
              <a:rPr kumimoji="0" lang="sr-Latn-RS" altLang="sr-Latn-RS" sz="2400" b="1" i="1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MockMvc</a:t>
            </a:r>
            <a:endParaRPr kumimoji="0" lang="sr-Latn-RS" altLang="sr-Latn-RS" sz="2400" b="0" i="1" u="none" strike="noStrike" cap="none" normalizeH="0" baseline="0" dirty="0">
              <a:ln>
                <a:noFill/>
              </a:ln>
              <a:solidFill>
                <a:srgbClr val="D8AD5A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D8AD5A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sr-Latn-RS" altLang="sr-Latn-RS" sz="2400" b="1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Ispitivanje sustava</a:t>
            </a:r>
            <a:r>
              <a:rPr kumimoji="0" lang="sr-Latn-RS" altLang="sr-Latn-RS" sz="2400" b="0" i="0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ostvareno pomoću alata </a:t>
            </a:r>
            <a:r>
              <a:rPr kumimoji="0" lang="sr-Latn-RS" altLang="sr-Latn-RS" sz="2400" b="1" i="1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Selenium</a:t>
            </a:r>
            <a:r>
              <a:rPr kumimoji="0" lang="sr-Latn-RS" altLang="sr-Latn-RS" sz="2400" b="1" i="1" u="none" strike="noStrike" cap="none" normalizeH="0" baseline="0" dirty="0">
                <a:ln>
                  <a:noFill/>
                </a:ln>
                <a:solidFill>
                  <a:srgbClr val="D8AD5A"/>
                </a:solidFill>
                <a:effectLst/>
              </a:rPr>
              <a:t> </a:t>
            </a:r>
            <a:r>
              <a:rPr kumimoji="0" lang="sr-Latn-RS" altLang="sr-Latn-RS" sz="2400" b="1" i="1" u="none" strike="noStrike" cap="none" normalizeH="0" baseline="0" dirty="0" err="1">
                <a:ln>
                  <a:noFill/>
                </a:ln>
                <a:solidFill>
                  <a:srgbClr val="D8AD5A"/>
                </a:solidFill>
                <a:effectLst/>
              </a:rPr>
              <a:t>WebDriver</a:t>
            </a:r>
            <a:endParaRPr kumimoji="0" lang="sr-Latn-RS" altLang="sr-Latn-RS" sz="2400" b="0" i="1" u="none" strike="noStrike" cap="none" normalizeH="0" baseline="0" dirty="0">
              <a:ln>
                <a:noFill/>
              </a:ln>
              <a:solidFill>
                <a:srgbClr val="D8AD5A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21737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solidFill>
                  <a:srgbClr val="D8AD5A"/>
                </a:solidFill>
              </a:rPr>
              <a:t>Korišteni alati i tehnologije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635" y="1089925"/>
            <a:ext cx="5389453" cy="5694278"/>
          </a:xfrm>
        </p:spPr>
        <p:txBody>
          <a:bodyPr>
            <a:normAutofit fontScale="92500" lnSpcReduction="20000"/>
          </a:bodyPr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React.js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Node.js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JWT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SpringBoot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Docker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Azure </a:t>
            </a:r>
            <a:r>
              <a:rPr lang="hr-HR" dirty="0" err="1">
                <a:solidFill>
                  <a:srgbClr val="D8AD5A"/>
                </a:solidFill>
              </a:rPr>
              <a:t>Cloud</a:t>
            </a:r>
            <a:r>
              <a:rPr lang="hr-HR" dirty="0">
                <a:solidFill>
                  <a:srgbClr val="D8AD5A"/>
                </a:solidFill>
              </a:rPr>
              <a:t> Linux VM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NGINX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ERDplus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PostgreSQL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IntelliJ</a:t>
            </a:r>
            <a:r>
              <a:rPr lang="hr-HR" dirty="0">
                <a:solidFill>
                  <a:srgbClr val="D8AD5A"/>
                </a:solidFill>
              </a:rPr>
              <a:t> IDEA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Azure </a:t>
            </a:r>
            <a:r>
              <a:rPr lang="hr-HR" dirty="0" err="1">
                <a:solidFill>
                  <a:srgbClr val="D8AD5A"/>
                </a:solidFill>
              </a:rPr>
              <a:t>Database</a:t>
            </a:r>
            <a:r>
              <a:rPr lang="hr-HR" dirty="0">
                <a:solidFill>
                  <a:srgbClr val="D8AD5A"/>
                </a:solidFill>
              </a:rPr>
              <a:t> for </a:t>
            </a:r>
            <a:r>
              <a:rPr lang="hr-HR" dirty="0" err="1">
                <a:solidFill>
                  <a:srgbClr val="D8AD5A"/>
                </a:solidFill>
              </a:rPr>
              <a:t>PostgreSQL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Google </a:t>
            </a:r>
            <a:r>
              <a:rPr lang="hr-HR" dirty="0" err="1">
                <a:solidFill>
                  <a:srgbClr val="D8AD5A"/>
                </a:solidFill>
              </a:rPr>
              <a:t>Maps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Astah</a:t>
            </a:r>
            <a:r>
              <a:rPr lang="hr-HR" dirty="0">
                <a:solidFill>
                  <a:srgbClr val="D8AD5A"/>
                </a:solidFill>
              </a:rPr>
              <a:t> UML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14</a:t>
            </a:fld>
            <a:endParaRPr lang="hr-HR" dirty="0"/>
          </a:p>
        </p:txBody>
      </p:sp>
      <p:sp>
        <p:nvSpPr>
          <p:cNvPr id="5" name="TekstniOkvir 4">
            <a:extLst>
              <a:ext uri="{FF2B5EF4-FFF2-40B4-BE49-F238E27FC236}">
                <a16:creationId xmlns:a16="http://schemas.microsoft.com/office/drawing/2014/main" id="{7C75B22F-F1E7-4A34-AF45-B85C87578544}"/>
              </a:ext>
            </a:extLst>
          </p:cNvPr>
          <p:cNvSpPr txBox="1"/>
          <p:nvPr/>
        </p:nvSpPr>
        <p:spPr>
          <a:xfrm>
            <a:off x="3850640" y="1300480"/>
            <a:ext cx="4698620" cy="4988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73A7A70-0F36-4967-B986-AED83444AD07}"/>
              </a:ext>
            </a:extLst>
          </p:cNvPr>
          <p:cNvSpPr txBox="1">
            <a:spLocks/>
          </p:cNvSpPr>
          <p:nvPr/>
        </p:nvSpPr>
        <p:spPr>
          <a:xfrm>
            <a:off x="5318338" y="1094903"/>
            <a:ext cx="3520545" cy="5694278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 lnSpcReduction="20000"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Draw.io/diagrams.net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PlantUML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dbdiagram.io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Mockito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Selenium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ChatGPT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Gemini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Claude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WhatsApp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Discord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Microsoft Word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Git</a:t>
            </a: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 err="1">
                <a:solidFill>
                  <a:srgbClr val="D8AD5A"/>
                </a:solidFill>
              </a:rPr>
              <a:t>GitHub</a:t>
            </a:r>
            <a:endParaRPr lang="hr-HR" dirty="0">
              <a:solidFill>
                <a:srgbClr val="D8AD5A"/>
              </a:solidFill>
            </a:endParaRPr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97724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63F78B-BED5-4EA5-8966-36B882F53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rgbClr val="D8AD5A"/>
                </a:solidFill>
              </a:rPr>
              <a:t>Organizacija rada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E66FAB2-06E6-458A-A786-6B74B4488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Neprogramski (organizacijski) zadaci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Komunikacija: sastanci uživo, </a:t>
            </a:r>
            <a:r>
              <a:rPr lang="hr-HR" dirty="0" err="1">
                <a:solidFill>
                  <a:srgbClr val="D8AD5A"/>
                </a:solidFill>
              </a:rPr>
              <a:t>Discord</a:t>
            </a:r>
            <a:r>
              <a:rPr lang="hr-HR" dirty="0">
                <a:solidFill>
                  <a:srgbClr val="D8AD5A"/>
                </a:solidFill>
              </a:rPr>
              <a:t>, </a:t>
            </a:r>
            <a:r>
              <a:rPr lang="hr-HR" dirty="0" err="1">
                <a:solidFill>
                  <a:srgbClr val="D8AD5A"/>
                </a:solidFill>
              </a:rPr>
              <a:t>WhatsApp</a:t>
            </a:r>
            <a:endParaRPr lang="hr-HR" dirty="0">
              <a:solidFill>
                <a:srgbClr val="D8AD5A"/>
              </a:solidFill>
            </a:endParaRP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Upoznavanje s </a:t>
            </a:r>
            <a:r>
              <a:rPr lang="hr-HR" dirty="0" err="1">
                <a:solidFill>
                  <a:srgbClr val="D8AD5A"/>
                </a:solidFill>
              </a:rPr>
              <a:t>GitHubom</a:t>
            </a:r>
            <a:r>
              <a:rPr lang="hr-HR" dirty="0">
                <a:solidFill>
                  <a:srgbClr val="D8AD5A"/>
                </a:solidFill>
              </a:rPr>
              <a:t> i usvajanje tehnika njegovog korištenja - izazovno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endParaRPr lang="hr-HR" dirty="0">
              <a:solidFill>
                <a:srgbClr val="D8AD5A"/>
              </a:solidFill>
            </a:endParaRP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Primijenjeni model životnog ciklusa: </a:t>
            </a:r>
            <a:r>
              <a:rPr lang="hr-HR" dirty="0" err="1">
                <a:solidFill>
                  <a:srgbClr val="D8AD5A"/>
                </a:solidFill>
              </a:rPr>
              <a:t>vodopadni</a:t>
            </a:r>
            <a:r>
              <a:rPr lang="hr-HR" dirty="0">
                <a:solidFill>
                  <a:srgbClr val="D8AD5A"/>
                </a:solidFill>
              </a:rPr>
              <a:t> model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endParaRPr lang="hr-HR" dirty="0">
              <a:solidFill>
                <a:srgbClr val="D8AD5A"/>
              </a:solidFill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Vremenski okvir razvoja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Trajanje: 15 tjedana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b="1" i="1" dirty="0">
                <a:solidFill>
                  <a:srgbClr val="D8AD5A"/>
                </a:solidFill>
              </a:rPr>
              <a:t>Okvirna organizacija rada na ovom projektu</a:t>
            </a:r>
            <a:r>
              <a:rPr lang="hr-HR" dirty="0">
                <a:solidFill>
                  <a:srgbClr val="D8AD5A"/>
                </a:solidFill>
              </a:rPr>
              <a:t>: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Prva faza: raspodjela uloga u timu, postavljanje </a:t>
            </a:r>
            <a:r>
              <a:rPr lang="hr-HR" dirty="0" err="1">
                <a:solidFill>
                  <a:srgbClr val="D8AD5A"/>
                </a:solidFill>
              </a:rPr>
              <a:t>GitHub</a:t>
            </a:r>
            <a:r>
              <a:rPr lang="hr-HR" dirty="0">
                <a:solidFill>
                  <a:srgbClr val="D8AD5A"/>
                </a:solidFill>
              </a:rPr>
              <a:t>-a, izrada većine dokumentacije (zahtjevi, dijagrami itd.), prve funkcionalnosti</a:t>
            </a:r>
          </a:p>
          <a:p>
            <a:pPr lvl="1"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</a:rPr>
              <a:t>Druga faza: postepena implementacija svih funkcionalnosti,  dopunjavanje dokumentacije, ispitivanje i testiranje, izrada finalne verzije i priprema za prezentaciju</a:t>
            </a:r>
          </a:p>
          <a:p>
            <a:endParaRPr lang="hr-HR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1A445137-0F92-405A-B9F1-47D47E3BA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14523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480C28C-E995-4A1B-B4FD-E9DB58A32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r-HR" dirty="0">
                <a:solidFill>
                  <a:srgbClr val="D8AD5A"/>
                </a:solidFill>
              </a:rPr>
              <a:t>Tablica raščlambe zadataka članova s procijenjenim naporom u satima 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8241880A-98A9-41BA-9E0C-85A19720A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16</a:t>
            </a:fld>
            <a:endParaRPr lang="hr-HR"/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0B7878C6-9BDE-4444-8A54-385930B03D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253" t="-134" r="253" b="48995"/>
          <a:stretch/>
        </p:blipFill>
        <p:spPr>
          <a:xfrm>
            <a:off x="269998" y="980633"/>
            <a:ext cx="4574624" cy="3507129"/>
          </a:xfrm>
          <a:prstGeom prst="rect">
            <a:avLst/>
          </a:prstGeom>
        </p:spPr>
      </p:pic>
      <p:pic>
        <p:nvPicPr>
          <p:cNvPr id="8" name="Slika 7">
            <a:extLst>
              <a:ext uri="{FF2B5EF4-FFF2-40B4-BE49-F238E27FC236}">
                <a16:creationId xmlns:a16="http://schemas.microsoft.com/office/drawing/2014/main" id="{16A818D6-1476-4457-84A6-CEF60653DF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0099"/>
          <a:stretch/>
        </p:blipFill>
        <p:spPr>
          <a:xfrm>
            <a:off x="4611060" y="3429000"/>
            <a:ext cx="4535564" cy="339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909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solidFill>
                  <a:srgbClr val="D8AD5A"/>
                </a:solidFill>
              </a:rPr>
              <a:t>Zaključak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684" y="1101038"/>
            <a:ext cx="9000000" cy="5400000"/>
          </a:xfrm>
        </p:spPr>
        <p:txBody>
          <a:bodyPr>
            <a:normAutofit fontScale="92500"/>
          </a:bodyPr>
          <a:lstStyle/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b="1" i="1" dirty="0">
                <a:solidFill>
                  <a:srgbClr val="D8AD5A"/>
                </a:solidFill>
                <a:sym typeface="Wingdings" panose="05000000000000000000" pitchFamily="2" charset="2"/>
              </a:rPr>
              <a:t>Što je bilo dobro: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sym typeface="Wingdings" panose="05000000000000000000" pitchFamily="2" charset="2"/>
              </a:rPr>
              <a:t>Članovi tima </a:t>
            </a:r>
            <a:r>
              <a:rPr lang="hr-HR" dirty="0">
                <a:solidFill>
                  <a:srgbClr val="D8AD5A"/>
                </a:solidFill>
                <a:sym typeface="Wingdings" panose="05000000000000000000" pitchFamily="2" charset="2"/>
              </a:rPr>
              <a:t>redovito su komunicirali i svi su odrađivali svoj posao u dogovorenom roku te si međusobno pomagali i za ove dijelove koji nisu njihov posao, ukoliko netko nešto nije mogao napraviti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sym typeface="Wingdings" panose="05000000000000000000" pitchFamily="2" charset="2"/>
              </a:rPr>
              <a:t>Naučen rad s novim tehnologijama i </a:t>
            </a:r>
            <a:r>
              <a:rPr lang="hr-HR" dirty="0">
                <a:solidFill>
                  <a:srgbClr val="D8AD5A"/>
                </a:solidFill>
                <a:sym typeface="Wingdings" panose="05000000000000000000" pitchFamily="2" charset="2"/>
              </a:rPr>
              <a:t>usvojene nove vještine komunikacije te organizacije rada na projektu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endParaRPr lang="hr-HR" noProof="0" dirty="0">
              <a:solidFill>
                <a:srgbClr val="D8AD5A"/>
              </a:solidFill>
              <a:sym typeface="Wingdings" panose="05000000000000000000" pitchFamily="2" charset="2"/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b="1" i="1" dirty="0">
                <a:solidFill>
                  <a:srgbClr val="D8AD5A"/>
                </a:solidFill>
                <a:sym typeface="Wingdings" panose="05000000000000000000" pitchFamily="2" charset="2"/>
              </a:rPr>
              <a:t>Gdje ima mjesta za napredak: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noProof="0" dirty="0">
                <a:solidFill>
                  <a:srgbClr val="D8AD5A"/>
                </a:solidFill>
                <a:sym typeface="Wingdings" panose="05000000000000000000" pitchFamily="2" charset="2"/>
              </a:rPr>
              <a:t>Još jasnije definirati zadatke po članovima kako ne bi bilo preklapanja i uzaludnog posla</a:t>
            </a: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r>
              <a:rPr lang="hr-HR" dirty="0">
                <a:solidFill>
                  <a:srgbClr val="D8AD5A"/>
                </a:solidFill>
                <a:sym typeface="Wingdings" panose="05000000000000000000" pitchFamily="2" charset="2"/>
              </a:rPr>
              <a:t>Dodati još neke funkcionalnosti u aplikaciju, npr. mogućnost da </a:t>
            </a:r>
            <a:r>
              <a:rPr lang="hr-HR" dirty="0" err="1">
                <a:solidFill>
                  <a:srgbClr val="D8AD5A"/>
                </a:solidFill>
                <a:sym typeface="Wingdings" panose="05000000000000000000" pitchFamily="2" charset="2"/>
              </a:rPr>
              <a:t>admin</a:t>
            </a:r>
            <a:r>
              <a:rPr lang="hr-HR" dirty="0">
                <a:solidFill>
                  <a:srgbClr val="D8AD5A"/>
                </a:solidFill>
                <a:sym typeface="Wingdings" panose="05000000000000000000" pitchFamily="2" charset="2"/>
              </a:rPr>
              <a:t> hotela kroz jednostavno sučelje prilagodi izgled početne stranice</a:t>
            </a:r>
            <a:endParaRPr lang="hr-HR" noProof="0" dirty="0">
              <a:solidFill>
                <a:srgbClr val="D8AD5A"/>
              </a:solidFill>
              <a:sym typeface="Wingdings" panose="05000000000000000000" pitchFamily="2" charset="2"/>
            </a:endParaRPr>
          </a:p>
          <a:p>
            <a:pPr>
              <a:buClr>
                <a:srgbClr val="D8AD5A"/>
              </a:buClr>
              <a:buFont typeface="Wingdings" panose="05000000000000000000" pitchFamily="2" charset="2"/>
              <a:buChar char="§"/>
            </a:pPr>
            <a:endParaRPr lang="hr-HR" noProof="0" dirty="0">
              <a:sym typeface="Wingdings" panose="05000000000000000000" pitchFamily="2" charset="2"/>
            </a:endParaRPr>
          </a:p>
          <a:p>
            <a:pPr lvl="1"/>
            <a:endParaRPr lang="hr-HR" noProof="0" dirty="0">
              <a:sym typeface="Wingdings" panose="05000000000000000000" pitchFamily="2" charset="2"/>
            </a:endParaRP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17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8259320"/>
      </p:ext>
    </p:extLst>
  </p:cSld>
  <p:clrMapOvr>
    <a:masterClrMapping/>
  </p:clrMapOvr>
</p:sld>
</file>

<file path=ppt/theme/theme1.xml><?xml version="1.0" encoding="utf-8"?>
<a:theme xmlns:a="http://schemas.openxmlformats.org/drawingml/2006/main" name="PROGI-templat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I-template.potm" id="{58E78474-FDB4-4359-98C4-259EEF8E4D43}" vid="{A98D19B1-8675-4930-BF13-63F2BBFA5E37}"/>
    </a:ext>
  </a:extLst>
</a:theme>
</file>

<file path=ppt/theme/theme2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5487</TotalTime>
  <Words>745</Words>
  <Application>Microsoft Office PowerPoint</Application>
  <PresentationFormat>Prikaz na zaslonu (4:3)</PresentationFormat>
  <Paragraphs>157</Paragraphs>
  <Slides>17</Slides>
  <Notes>4</Notes>
  <HiddenSlides>0</HiddenSlides>
  <MMClips>0</MMClips>
  <ScaleCrop>false</ScaleCrop>
  <HeadingPairs>
    <vt:vector size="6" baseType="variant">
      <vt:variant>
        <vt:lpstr>Korišteni fontovi</vt:lpstr>
      </vt:variant>
      <vt:variant>
        <vt:i4>13</vt:i4>
      </vt:variant>
      <vt:variant>
        <vt:lpstr>Tema</vt:lpstr>
      </vt:variant>
      <vt:variant>
        <vt:i4>2</vt:i4>
      </vt:variant>
      <vt:variant>
        <vt:lpstr>Naslovi slajdova</vt:lpstr>
      </vt:variant>
      <vt:variant>
        <vt:i4>17</vt:i4>
      </vt:variant>
    </vt:vector>
  </HeadingPairs>
  <TitlesOfParts>
    <vt:vector size="32" baseType="lpstr">
      <vt:lpstr>ＭＳ Ｐゴシック</vt:lpstr>
      <vt:lpstr>Amiri Quran</vt:lpstr>
      <vt:lpstr>Arial</vt:lpstr>
      <vt:lpstr>Calibri</vt:lpstr>
      <vt:lpstr>Century Gothic</vt:lpstr>
      <vt:lpstr>Courier New</vt:lpstr>
      <vt:lpstr>Franklin Gothic Book</vt:lpstr>
      <vt:lpstr>Franklin Gothic Demi</vt:lpstr>
      <vt:lpstr>Franklin Gothic Medium</vt:lpstr>
      <vt:lpstr>Tahoma</vt:lpstr>
      <vt:lpstr>Times New Roman</vt:lpstr>
      <vt:lpstr>Wingdings</vt:lpstr>
      <vt:lpstr>Wingdings 2</vt:lpstr>
      <vt:lpstr>PROGI-template</vt:lpstr>
      <vt:lpstr>DividendVTI</vt:lpstr>
      <vt:lpstr>Quantum HOTEL</vt:lpstr>
      <vt:lpstr>Sadržaj</vt:lpstr>
      <vt:lpstr>Članovi tima</vt:lpstr>
      <vt:lpstr>O projektu</vt:lpstr>
      <vt:lpstr>PREGLED ZAHTJEVA – Funkcionalni zahtjevi</vt:lpstr>
      <vt:lpstr>Pregled zahtjeva - NEFUNKCIONALNI ZAHTJEVI</vt:lpstr>
      <vt:lpstr>UML dijagram obrazaca uporabe</vt:lpstr>
      <vt:lpstr>Sekvencijski dijagram  - rezervacija</vt:lpstr>
      <vt:lpstr>Arhitektura sustava</vt:lpstr>
      <vt:lpstr>Dijagram komponenti</vt:lpstr>
      <vt:lpstr>Dijagram razmještaja</vt:lpstr>
      <vt:lpstr>Dijagram  razreda</vt:lpstr>
      <vt:lpstr>Ispitivanje</vt:lpstr>
      <vt:lpstr>Korišteni alati i tehnologije</vt:lpstr>
      <vt:lpstr>Organizacija rada</vt:lpstr>
      <vt:lpstr>Tablica raščlambe zadataka članova s procijenjenim naporom u satima 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creator>nfrid</dc:creator>
  <cp:lastModifiedBy>Dina</cp:lastModifiedBy>
  <cp:revision>45</cp:revision>
  <dcterms:created xsi:type="dcterms:W3CDTF">2016-01-18T13:10:52Z</dcterms:created>
  <dcterms:modified xsi:type="dcterms:W3CDTF">2026-01-23T11:44:09Z</dcterms:modified>
</cp:coreProperties>
</file>