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20"/>
  </p:notesMasterIdLst>
  <p:sldIdLst>
    <p:sldId id="265" r:id="rId3"/>
    <p:sldId id="266" r:id="rId4"/>
    <p:sldId id="267" r:id="rId5"/>
    <p:sldId id="268" r:id="rId6"/>
    <p:sldId id="276" r:id="rId7"/>
    <p:sldId id="277" r:id="rId8"/>
    <p:sldId id="269" r:id="rId9"/>
    <p:sldId id="278" r:id="rId10"/>
    <p:sldId id="280" r:id="rId11"/>
    <p:sldId id="281" r:id="rId12"/>
    <p:sldId id="282" r:id="rId13"/>
    <p:sldId id="283" r:id="rId14"/>
    <p:sldId id="275" r:id="rId15"/>
    <p:sldId id="260" r:id="rId16"/>
    <p:sldId id="284" r:id="rId17"/>
    <p:sldId id="285" r:id="rId18"/>
    <p:sldId id="26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AD5A"/>
    <a:srgbClr val="540114"/>
    <a:srgbClr val="980226"/>
    <a:srgbClr val="852F41"/>
    <a:srgbClr val="9A3868"/>
    <a:srgbClr val="A2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5" autoAdjust="0"/>
    <p:restoredTop sz="97366" autoAdjust="0"/>
  </p:normalViewPr>
  <p:slideViewPr>
    <p:cSldViewPr snapToGrid="0">
      <p:cViewPr>
        <p:scale>
          <a:sx n="66" d="100"/>
          <a:sy n="66" d="100"/>
        </p:scale>
        <p:origin x="-96" y="336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20.1.2026.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4034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40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0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3.xml"/><Relationship Id="rId7" Type="http://schemas.openxmlformats.org/officeDocument/2006/relationships/slide" Target="slide1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slide" Target="slide9.xml"/><Relationship Id="rId5" Type="http://schemas.openxmlformats.org/officeDocument/2006/relationships/slide" Target="slide5.xml"/><Relationship Id="rId10" Type="http://schemas.openxmlformats.org/officeDocument/2006/relationships/slide" Target="slide17.xml"/><Relationship Id="rId4" Type="http://schemas.openxmlformats.org/officeDocument/2006/relationships/slide" Target="slide4.xml"/><Relationship Id="rId9" Type="http://schemas.openxmlformats.org/officeDocument/2006/relationships/slide" Target="slide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dirty="0" err="1">
                <a:solidFill>
                  <a:srgbClr val="D8AD5A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Quantum</a:t>
            </a:r>
            <a:r>
              <a:rPr lang="hr-HR" sz="4000" dirty="0">
                <a:latin typeface="Amiri Quran" panose="00000500000000000000" pitchFamily="2" charset="-78"/>
                <a:cs typeface="Amiri Quran" panose="00000500000000000000" pitchFamily="2" charset="-78"/>
              </a:rPr>
              <a:t> </a:t>
            </a:r>
            <a:r>
              <a:rPr lang="hr-HR" sz="4000" dirty="0">
                <a:solidFill>
                  <a:srgbClr val="D8AD5A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HOTEL</a:t>
            </a:r>
            <a:endParaRPr lang="hr-HR" sz="4000" noProof="0" dirty="0">
              <a:solidFill>
                <a:srgbClr val="D8AD5A"/>
              </a:solidFill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665" y="5227023"/>
            <a:ext cx="7981725" cy="727184"/>
          </a:xfrm>
        </p:spPr>
        <p:txBody>
          <a:bodyPr>
            <a:normAutofit/>
          </a:bodyPr>
          <a:lstStyle/>
          <a:p>
            <a:r>
              <a:rPr lang="hr-HR" sz="1400" noProof="0" dirty="0">
                <a:solidFill>
                  <a:srgbClr val="D8AD5A"/>
                </a:solidFill>
              </a:rPr>
              <a:t>Tim:  TG </a:t>
            </a:r>
            <a:r>
              <a:rPr lang="hr-HR" sz="1400" dirty="0">
                <a:solidFill>
                  <a:srgbClr val="D8AD5A"/>
                </a:solidFill>
              </a:rPr>
              <a:t>03</a:t>
            </a:r>
            <a:r>
              <a:rPr lang="hr-HR" sz="1400" noProof="0" dirty="0">
                <a:solidFill>
                  <a:srgbClr val="D8AD5A"/>
                </a:solidFill>
              </a:rPr>
              <a:t>.</a:t>
            </a:r>
            <a:r>
              <a:rPr lang="hr-HR" sz="1400" dirty="0">
                <a:solidFill>
                  <a:srgbClr val="D8AD5A"/>
                </a:solidFill>
              </a:rPr>
              <a:t>4</a:t>
            </a:r>
            <a:r>
              <a:rPr lang="hr-HR" sz="1400" noProof="0" dirty="0">
                <a:solidFill>
                  <a:srgbClr val="D8AD5A"/>
                </a:solidFill>
              </a:rPr>
              <a:t> Sinovi pobjede</a:t>
            </a:r>
          </a:p>
          <a:p>
            <a:r>
              <a:rPr lang="hr-HR" sz="1400" noProof="0" dirty="0">
                <a:solidFill>
                  <a:srgbClr val="D8AD5A"/>
                </a:solidFill>
              </a:rPr>
              <a:t>Ak. god. 2025./2026.</a:t>
            </a:r>
            <a:r>
              <a:rPr lang="hr-HR" noProof="0" dirty="0"/>
              <a:t>.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3DEDC933-A0D5-4B08-8DDC-A20B3592C69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89" t="9901" r="22969" b="39287"/>
          <a:stretch/>
        </p:blipFill>
        <p:spPr>
          <a:xfrm>
            <a:off x="3620327" y="988992"/>
            <a:ext cx="1930400" cy="180500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>
                <a:solidFill>
                  <a:srgbClr val="D8AD5A"/>
                </a:solidFill>
              </a:rPr>
              <a:t>Sadržaj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CB0F54-7862-2508-EDB2-877BCE433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999" y="1245038"/>
            <a:ext cx="9000000" cy="5400000"/>
          </a:xfrm>
        </p:spPr>
        <p:txBody>
          <a:bodyPr/>
          <a:lstStyle/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noProof="0" dirty="0">
                <a:solidFill>
                  <a:srgbClr val="D8AD5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Članovi tima</a:t>
            </a:r>
            <a:endParaRPr lang="hr-HR" noProof="0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noProof="0" dirty="0">
                <a:solidFill>
                  <a:srgbClr val="D8AD5A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Cilj projekta i opis zadatka</a:t>
            </a:r>
            <a:endParaRPr lang="hr-HR" noProof="0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noProof="0" dirty="0">
                <a:solidFill>
                  <a:srgbClr val="D8AD5A"/>
                </a:solidFill>
              </a:rPr>
              <a:t>Analiza i oblikovanje sustava	</a:t>
            </a:r>
          </a:p>
          <a:p>
            <a:pPr lvl="1"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noProof="0" dirty="0">
                <a:solidFill>
                  <a:srgbClr val="D8AD5A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Zahtjevi</a:t>
            </a:r>
            <a:endParaRPr lang="hr-HR" noProof="0" dirty="0">
              <a:solidFill>
                <a:srgbClr val="D8AD5A"/>
              </a:solidFill>
            </a:endParaRPr>
          </a:p>
          <a:p>
            <a:pPr lvl="1"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noProof="0" dirty="0">
                <a:solidFill>
                  <a:srgbClr val="D8AD5A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Arhitektura</a:t>
            </a:r>
            <a:endParaRPr lang="hr-HR" noProof="0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Ispitivanje</a:t>
            </a:r>
            <a:endParaRPr lang="hr-HR" dirty="0">
              <a:solidFill>
                <a:srgbClr val="D8AD5A"/>
              </a:solidFill>
              <a:hlinkClick r:id="rId8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Korišteni alati i tehnologije</a:t>
            </a:r>
            <a:endParaRPr lang="hr-HR" noProof="0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noProof="0" dirty="0">
                <a:solidFill>
                  <a:srgbClr val="D8AD5A"/>
                </a:solidFill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Organizacija rada </a:t>
            </a:r>
            <a:endParaRPr lang="hr-HR" noProof="0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noProof="0" dirty="0">
                <a:solidFill>
                  <a:srgbClr val="D8AD5A"/>
                </a:solidFill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Iskustva</a:t>
            </a:r>
            <a:endParaRPr lang="hr-HR" noProof="0" dirty="0">
              <a:solidFill>
                <a:srgbClr val="D8AD5A"/>
              </a:solidFill>
            </a:endParaRP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12565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0" y="14700"/>
            <a:ext cx="7920000" cy="828262"/>
          </a:xfrm>
        </p:spPr>
        <p:txBody>
          <a:bodyPr/>
          <a:lstStyle/>
          <a:p>
            <a:r>
              <a:rPr lang="hr-HR" noProof="0" dirty="0">
                <a:solidFill>
                  <a:srgbClr val="D8AD5A"/>
                </a:solidFill>
              </a:rPr>
              <a:t>Članovi </a:t>
            </a:r>
            <a:r>
              <a:rPr lang="hr-HR" dirty="0">
                <a:solidFill>
                  <a:srgbClr val="D8AD5A"/>
                </a:solidFill>
              </a:rPr>
              <a:t>tima</a:t>
            </a:r>
            <a:endParaRPr lang="hr-HR" noProof="0" dirty="0">
              <a:solidFill>
                <a:srgbClr val="D8AD5A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 err="1">
                <a:solidFill>
                  <a:srgbClr val="D8AD5A"/>
                </a:solidFill>
              </a:rPr>
              <a:t>Fran</a:t>
            </a:r>
            <a:r>
              <a:rPr lang="hr-HR" dirty="0">
                <a:solidFill>
                  <a:srgbClr val="D8AD5A"/>
                </a:solidFill>
              </a:rPr>
              <a:t> Bistrović – voditelj projekta, </a:t>
            </a:r>
            <a:r>
              <a:rPr lang="hr-HR" dirty="0" err="1">
                <a:solidFill>
                  <a:srgbClr val="D8AD5A"/>
                </a:solidFill>
              </a:rPr>
              <a:t>backend</a:t>
            </a:r>
            <a:endParaRPr lang="hr-HR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Dina </a:t>
            </a:r>
            <a:r>
              <a:rPr lang="hr-HR" dirty="0" err="1">
                <a:solidFill>
                  <a:srgbClr val="D8AD5A"/>
                </a:solidFill>
              </a:rPr>
              <a:t>Janđel</a:t>
            </a:r>
            <a:r>
              <a:rPr lang="hr-HR" dirty="0">
                <a:solidFill>
                  <a:srgbClr val="D8AD5A"/>
                </a:solidFill>
              </a:rPr>
              <a:t> – dizajn, </a:t>
            </a:r>
            <a:r>
              <a:rPr lang="hr-HR" dirty="0" err="1">
                <a:solidFill>
                  <a:srgbClr val="D8AD5A"/>
                </a:solidFill>
              </a:rPr>
              <a:t>frontend</a:t>
            </a:r>
            <a:endParaRPr lang="hr-HR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Nina Jurić – dokumentacija, </a:t>
            </a:r>
            <a:r>
              <a:rPr lang="hr-HR" dirty="0" err="1">
                <a:solidFill>
                  <a:srgbClr val="D8AD5A"/>
                </a:solidFill>
              </a:rPr>
              <a:t>frontend</a:t>
            </a:r>
            <a:endParaRPr lang="hr-HR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 err="1">
                <a:solidFill>
                  <a:srgbClr val="D8AD5A"/>
                </a:solidFill>
              </a:rPr>
              <a:t>Lukas</a:t>
            </a:r>
            <a:r>
              <a:rPr lang="hr-HR" dirty="0">
                <a:solidFill>
                  <a:srgbClr val="D8AD5A"/>
                </a:solidFill>
              </a:rPr>
              <a:t> Kraljić – </a:t>
            </a:r>
            <a:r>
              <a:rPr lang="hr-HR" dirty="0" err="1">
                <a:solidFill>
                  <a:srgbClr val="D8AD5A"/>
                </a:solidFill>
              </a:rPr>
              <a:t>backend</a:t>
            </a:r>
            <a:r>
              <a:rPr lang="hr-HR" dirty="0">
                <a:solidFill>
                  <a:srgbClr val="D8AD5A"/>
                </a:solidFill>
              </a:rPr>
              <a:t>, </a:t>
            </a:r>
            <a:r>
              <a:rPr lang="hr-HR" dirty="0" err="1">
                <a:solidFill>
                  <a:srgbClr val="D8AD5A"/>
                </a:solidFill>
              </a:rPr>
              <a:t>DevOps</a:t>
            </a:r>
            <a:r>
              <a:rPr lang="hr-HR" dirty="0">
                <a:solidFill>
                  <a:srgbClr val="D8AD5A"/>
                </a:solidFill>
              </a:rPr>
              <a:t> inženjer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Marko Majstorović – baza podataka, </a:t>
            </a:r>
            <a:r>
              <a:rPr lang="hr-HR" dirty="0" err="1">
                <a:solidFill>
                  <a:srgbClr val="D8AD5A"/>
                </a:solidFill>
              </a:rPr>
              <a:t>backend</a:t>
            </a:r>
            <a:endParaRPr lang="hr-HR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Marija Špoljarić – dokumentacija, </a:t>
            </a:r>
            <a:r>
              <a:rPr lang="hr-HR" dirty="0" err="1">
                <a:solidFill>
                  <a:srgbClr val="D8AD5A"/>
                </a:solidFill>
              </a:rPr>
              <a:t>frontend</a:t>
            </a:r>
            <a:endParaRPr lang="hr-HR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Matija Tušek – dokumentacija, </a:t>
            </a:r>
            <a:r>
              <a:rPr lang="hr-HR" dirty="0" err="1">
                <a:solidFill>
                  <a:srgbClr val="D8AD5A"/>
                </a:solidFill>
              </a:rPr>
              <a:t>backend</a:t>
            </a:r>
            <a:endParaRPr lang="hr-HR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endParaRPr lang="hr-HR" dirty="0">
              <a:solidFill>
                <a:srgbClr val="D8AD5A"/>
              </a:solidFill>
            </a:endParaRPr>
          </a:p>
          <a:p>
            <a:pPr marL="0" indent="0">
              <a:buClr>
                <a:srgbClr val="D8AD5A"/>
              </a:buClr>
              <a:buNone/>
            </a:pPr>
            <a:r>
              <a:rPr lang="hr-HR" dirty="0">
                <a:solidFill>
                  <a:srgbClr val="D8AD5A"/>
                </a:solidFill>
              </a:rPr>
              <a:t>**uloge su se ponekad ispreplitale, u ispitivanju i izradi dokumentacije sudjelovali su svi članovi tima</a:t>
            </a:r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>
                <a:solidFill>
                  <a:srgbClr val="D8AD5A"/>
                </a:solidFill>
              </a:rPr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8" y="972000"/>
            <a:ext cx="9072001" cy="5817038"/>
          </a:xfrm>
        </p:spPr>
        <p:txBody>
          <a:bodyPr>
            <a:normAutofit fontScale="70000" lnSpcReduction="20000"/>
          </a:bodyPr>
          <a:lstStyle/>
          <a:p>
            <a:r>
              <a:rPr lang="sr-Latn-RS" altLang="sr-Latn-RS" b="1" i="1" dirty="0">
                <a:solidFill>
                  <a:srgbClr val="D8AD5A"/>
                </a:solidFill>
              </a:rPr>
              <a:t>Glavna svrha: </a:t>
            </a:r>
            <a:r>
              <a:rPr lang="sr-Latn-RS" altLang="sr-Latn-RS" dirty="0" err="1">
                <a:solidFill>
                  <a:srgbClr val="D8AD5A"/>
                </a:solidFill>
              </a:rPr>
              <a:t>rješavanje</a:t>
            </a:r>
            <a:r>
              <a:rPr lang="sr-Latn-RS" altLang="sr-Latn-RS" dirty="0">
                <a:solidFill>
                  <a:srgbClr val="D8AD5A"/>
                </a:solidFill>
              </a:rPr>
              <a:t> problema hotelskog poslovanja</a:t>
            </a:r>
          </a:p>
          <a:p>
            <a:pPr lvl="0"/>
            <a:endParaRPr lang="sr-Latn-RS" altLang="sr-Latn-RS" b="1" dirty="0">
              <a:solidFill>
                <a:srgbClr val="D8AD5A"/>
              </a:solidFill>
            </a:endParaRPr>
          </a:p>
          <a:p>
            <a:pPr lvl="0"/>
            <a:r>
              <a:rPr lang="sr-Latn-RS" altLang="sr-Latn-RS" b="1" i="1" dirty="0">
                <a:solidFill>
                  <a:srgbClr val="D8AD5A"/>
                </a:solidFill>
              </a:rPr>
              <a:t>Osnovne funkcionalnost:</a:t>
            </a:r>
          </a:p>
          <a:p>
            <a:pPr lvl="0"/>
            <a:r>
              <a:rPr lang="sr-Latn-RS" altLang="sr-Latn-RS" dirty="0">
                <a:solidFill>
                  <a:srgbClr val="D8AD5A"/>
                </a:solidFill>
              </a:rPr>
              <a:t>pregledna početna stranica koja nudi mogućnost prijave/registracije i pregleda određenih usluga hotela</a:t>
            </a:r>
          </a:p>
          <a:p>
            <a:pPr lvl="0"/>
            <a:r>
              <a:rPr lang="sr-Latn-RS" altLang="sr-Latn-RS" dirty="0">
                <a:solidFill>
                  <a:srgbClr val="D8AD5A"/>
                </a:solidFill>
              </a:rPr>
              <a:t>uređivanje korisničkog profila</a:t>
            </a:r>
          </a:p>
          <a:p>
            <a:pPr lvl="0"/>
            <a:r>
              <a:rPr lang="sr-Latn-RS" altLang="sr-Latn-RS" dirty="0">
                <a:solidFill>
                  <a:srgbClr val="D8AD5A"/>
                </a:solidFill>
              </a:rPr>
              <a:t>pregled </a:t>
            </a:r>
            <a:r>
              <a:rPr lang="sr-Latn-RS" altLang="sr-Latn-RS" dirty="0" err="1">
                <a:solidFill>
                  <a:srgbClr val="D8AD5A"/>
                </a:solidFill>
              </a:rPr>
              <a:t>smještajnih</a:t>
            </a:r>
            <a:r>
              <a:rPr lang="sr-Latn-RS" altLang="sr-Latn-RS" dirty="0">
                <a:solidFill>
                  <a:srgbClr val="D8AD5A"/>
                </a:solidFill>
              </a:rPr>
              <a:t> jedinica i dodatnih usluga (doručak, parking itd.) koje hotel nudi</a:t>
            </a:r>
          </a:p>
          <a:p>
            <a:pPr lvl="0"/>
            <a:r>
              <a:rPr lang="sr-Latn-RS" altLang="sr-Latn-RS" dirty="0">
                <a:solidFill>
                  <a:srgbClr val="D8AD5A"/>
                </a:solidFill>
              </a:rPr>
              <a:t>rezervacija sobe</a:t>
            </a:r>
          </a:p>
          <a:p>
            <a:pPr lvl="0"/>
            <a:r>
              <a:rPr lang="sr-Latn-RS" altLang="sr-Latn-RS" dirty="0">
                <a:solidFill>
                  <a:srgbClr val="D8AD5A"/>
                </a:solidFill>
              </a:rPr>
              <a:t>omogućeno dodavanje sadržaja hotela ovlaštenom osoblju i administratoru</a:t>
            </a:r>
          </a:p>
          <a:p>
            <a:pPr lvl="0"/>
            <a:r>
              <a:rPr lang="sr-Latn-RS" altLang="sr-Latn-RS" dirty="0">
                <a:solidFill>
                  <a:srgbClr val="D8AD5A"/>
                </a:solidFill>
              </a:rPr>
              <a:t>prikaz lokacije hotela na interaktivnoj karti</a:t>
            </a:r>
          </a:p>
          <a:p>
            <a:pPr lvl="0"/>
            <a:r>
              <a:rPr lang="sr-Latn-RS" altLang="sr-Latn-RS" dirty="0">
                <a:solidFill>
                  <a:srgbClr val="D8AD5A"/>
                </a:solidFill>
              </a:rPr>
              <a:t>uvid u statistiku hotela za administratora</a:t>
            </a:r>
          </a:p>
          <a:p>
            <a:pPr lvl="0"/>
            <a:endParaRPr lang="hr-HR" altLang="sr-Latn-RS" b="1" dirty="0">
              <a:solidFill>
                <a:srgbClr val="D8AD5A"/>
              </a:solidFill>
            </a:endParaRPr>
          </a:p>
          <a:p>
            <a:pPr lvl="0"/>
            <a:r>
              <a:rPr lang="hr-HR" altLang="sr-Latn-RS" b="1" i="1" dirty="0">
                <a:solidFill>
                  <a:srgbClr val="D8AD5A"/>
                </a:solidFill>
              </a:rPr>
              <a:t>Slično rješenje:</a:t>
            </a:r>
          </a:p>
          <a:p>
            <a:pPr lvl="0"/>
            <a:r>
              <a:rPr lang="hr-HR" altLang="sr-Latn-RS" dirty="0">
                <a:solidFill>
                  <a:srgbClr val="D8AD5A"/>
                </a:solidFill>
              </a:rPr>
              <a:t>Postoji, gotovo svaki hotel ima mogućnost online rezervacije, npr. lanac hotela Blue Sun </a:t>
            </a:r>
            <a:r>
              <a:rPr lang="hr-HR" altLang="sr-Latn-RS" dirty="0" err="1">
                <a:solidFill>
                  <a:srgbClr val="D8AD5A"/>
                </a:solidFill>
              </a:rPr>
              <a:t>Hotels</a:t>
            </a:r>
            <a:endParaRPr lang="hr-HR" altLang="sr-Latn-RS" dirty="0">
              <a:solidFill>
                <a:srgbClr val="D8AD5A"/>
              </a:solidFill>
            </a:endParaRPr>
          </a:p>
          <a:p>
            <a:pPr lvl="0"/>
            <a:r>
              <a:rPr lang="hr-HR" altLang="sr-Latn-RS" b="1" i="1" dirty="0">
                <a:solidFill>
                  <a:srgbClr val="D8AD5A"/>
                </a:solidFill>
              </a:rPr>
              <a:t>Naša prednost:</a:t>
            </a:r>
          </a:p>
          <a:p>
            <a:pPr lvl="0"/>
            <a:r>
              <a:rPr lang="hr-HR" dirty="0" err="1">
                <a:solidFill>
                  <a:srgbClr val="D8AD5A"/>
                </a:solidFill>
              </a:rPr>
              <a:t>Quantum</a:t>
            </a:r>
            <a:r>
              <a:rPr lang="hr-HR" dirty="0">
                <a:solidFill>
                  <a:srgbClr val="D8AD5A"/>
                </a:solidFill>
              </a:rPr>
              <a:t> Hotel osmišljen kao univerzalna i cjelovita platforma (informacijski sustav) koju može implementirati bilo koji hotel, neovisno o svojoj veličini</a:t>
            </a:r>
          </a:p>
          <a:p>
            <a:pPr lvl="0"/>
            <a:r>
              <a:rPr lang="hr-HR" altLang="sr-Latn-RS" dirty="0">
                <a:solidFill>
                  <a:srgbClr val="D8AD5A"/>
                </a:solidFill>
              </a:rPr>
              <a:t>komunikacija s korisnikom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F11B799-3F87-4396-8701-97C4D6A5B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549361" cy="936000"/>
          </a:xfrm>
        </p:spPr>
        <p:txBody>
          <a:bodyPr>
            <a:normAutofit fontScale="90000"/>
          </a:bodyPr>
          <a:lstStyle/>
          <a:p>
            <a:r>
              <a:rPr lang="hr-HR" dirty="0">
                <a:solidFill>
                  <a:srgbClr val="D8AD5A"/>
                </a:solidFill>
              </a:rPr>
              <a:t>PREGLED ZAHTJEVA – Funkcionalni zahtjevi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5DDA15A-DCBC-46AA-A72B-7EA7621C4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684" y="1101038"/>
            <a:ext cx="9000000" cy="5400000"/>
          </a:xfrm>
        </p:spPr>
        <p:txBody>
          <a:bodyPr>
            <a:normAutofit fontScale="92500" lnSpcReduction="20000"/>
          </a:bodyPr>
          <a:lstStyle/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Prijava i registracija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Promjena korisničkih podataka (ime, prezime, mjesto stanovanja, dob, spol, lozinka)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Interakcija s Google </a:t>
            </a:r>
            <a:r>
              <a:rPr lang="hr-HR" dirty="0" err="1">
                <a:solidFill>
                  <a:srgbClr val="D8AD5A"/>
                </a:solidFill>
              </a:rPr>
              <a:t>Maps</a:t>
            </a:r>
            <a:endParaRPr lang="hr-HR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Pregled odgovora na često postavljena pitanja (FAQ)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Postavljanje vlastitih pitanja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Odabir željenog termina, broja osoba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Rezervacija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Izmjena/potvrda/odbijanje rezervacija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Unos/ažuriranje smještajnih jedinica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Unos/ažuriranje dodatnih usluga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Izvješće o noćenjima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Mogućnost preuzimanja podataka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E02B5C2B-81A8-4A13-AEFC-3D8BF2CAA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68740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75DC0B3-653E-4B8F-87CD-787ACC449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2240" y="-251840"/>
            <a:ext cx="9214239" cy="1440560"/>
          </a:xfrm>
        </p:spPr>
        <p:txBody>
          <a:bodyPr>
            <a:normAutofit/>
          </a:bodyPr>
          <a:lstStyle/>
          <a:p>
            <a:r>
              <a:rPr lang="hr-HR" sz="2400" dirty="0">
                <a:solidFill>
                  <a:srgbClr val="D8AD5A"/>
                </a:solidFill>
              </a:rPr>
              <a:t>Pregled zahtjeva - NEFUNKCIONALNI ZAHTJEVI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F5B9BDCE-F90B-486D-B2F8-2941C659C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1" y="1187518"/>
            <a:ext cx="9000000" cy="5601520"/>
          </a:xfrm>
        </p:spPr>
        <p:txBody>
          <a:bodyPr>
            <a:normAutofit fontScale="92500" lnSpcReduction="20000"/>
          </a:bodyPr>
          <a:lstStyle/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Sustav treba biti oblikovan tako da omogućuje jednostavno održavanje i nadogradnju.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Vrijeme učitavanja i korištenja stranice / aplikacije mora biti prihvatljivo.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Sustav mora podržavati velik broj istovremenih korisnika bez značajnog narušavanja performansi i funkcionalnosti.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Sustav treba imati dovoljnu dokumentaciju.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Osjetljivi podaci korisnika moraju biti zaštićeni pristupnim kontrolama i dostupni samo ovlaštenim korisnicima.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Korisničko sučelje mora biti intuitivno i jednostavno za upotrebu.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Web stranica mora imati </a:t>
            </a:r>
            <a:r>
              <a:rPr lang="hr-HR" dirty="0" err="1">
                <a:solidFill>
                  <a:srgbClr val="D8AD5A"/>
                </a:solidFill>
              </a:rPr>
              <a:t>responzivan</a:t>
            </a:r>
            <a:r>
              <a:rPr lang="hr-HR" dirty="0">
                <a:solidFill>
                  <a:srgbClr val="D8AD5A"/>
                </a:solidFill>
              </a:rPr>
              <a:t> dizajn i biti prilagođena za mobilne uređaje.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Sustav mora biti konstantno dostupan za upotrebu (barem 99% vremena).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Održavanje se provodi u neaktivnim satovima radi </a:t>
            </a:r>
            <a:r>
              <a:rPr lang="hr-HR" dirty="0" err="1">
                <a:solidFill>
                  <a:srgbClr val="D8AD5A"/>
                </a:solidFill>
              </a:rPr>
              <a:t>minimizacije</a:t>
            </a:r>
            <a:r>
              <a:rPr lang="hr-HR" dirty="0">
                <a:solidFill>
                  <a:srgbClr val="D8AD5A"/>
                </a:solidFill>
              </a:rPr>
              <a:t> nedostupnosti sustava.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F68AE150-9A7F-4BEE-9F08-368844865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7733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>
                <a:solidFill>
                  <a:srgbClr val="D8AD5A"/>
                </a:solidFill>
              </a:rPr>
              <a:t>UML dijagram obrazaca uporabe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 dirty="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249AA518-774C-4052-837E-8674CAFDC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384" y="1096316"/>
            <a:ext cx="5461232" cy="554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104C7C1-D612-4B19-922F-2E6D44790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6641" y="1011360"/>
            <a:ext cx="7920000" cy="828262"/>
          </a:xfrm>
        </p:spPr>
        <p:txBody>
          <a:bodyPr>
            <a:normAutofit/>
          </a:bodyPr>
          <a:lstStyle/>
          <a:p>
            <a:r>
              <a:rPr lang="hr-HR" sz="2000" dirty="0">
                <a:solidFill>
                  <a:srgbClr val="D8AD5A"/>
                </a:solidFill>
              </a:rPr>
              <a:t>Sekvencijski dijagram</a:t>
            </a:r>
            <a:br>
              <a:rPr lang="hr-HR" sz="2000" dirty="0">
                <a:solidFill>
                  <a:srgbClr val="D8AD5A"/>
                </a:solidFill>
              </a:rPr>
            </a:br>
            <a:r>
              <a:rPr lang="hr-HR" sz="2000" dirty="0">
                <a:solidFill>
                  <a:srgbClr val="D8AD5A"/>
                </a:solidFill>
              </a:rPr>
              <a:t> - rezervacija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6D204348-BFCE-4EAC-B6EA-76B325B57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01EC2EC7-50AD-4844-AD89-975B2EDF1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067" y="124465"/>
            <a:ext cx="5200433" cy="619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986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F010693-500B-4D43-83D8-EF171E35D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rgbClr val="D8AD5A"/>
                </a:solidFill>
              </a:rPr>
              <a:t>Arhitektura sustava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5D622DE-FF3D-4D44-860D-5E5B30AA0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" y="1101038"/>
            <a:ext cx="9000000" cy="5400000"/>
          </a:xfrm>
        </p:spPr>
        <p:txBody>
          <a:bodyPr>
            <a:normAutofit/>
          </a:bodyPr>
          <a:lstStyle/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klijent-poslužitelj (</a:t>
            </a:r>
            <a:r>
              <a:rPr lang="hr-HR" dirty="0" err="1">
                <a:solidFill>
                  <a:srgbClr val="D8AD5A"/>
                </a:solidFill>
              </a:rPr>
              <a:t>client</a:t>
            </a:r>
            <a:r>
              <a:rPr lang="hr-HR" dirty="0">
                <a:solidFill>
                  <a:srgbClr val="D8AD5A"/>
                </a:solidFill>
              </a:rPr>
              <a:t>-server) arhitektonski stil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MVC (Model–</a:t>
            </a:r>
            <a:r>
              <a:rPr lang="hr-HR" dirty="0" err="1">
                <a:solidFill>
                  <a:srgbClr val="D8AD5A"/>
                </a:solidFill>
              </a:rPr>
              <a:t>View</a:t>
            </a:r>
            <a:r>
              <a:rPr lang="hr-HR" dirty="0">
                <a:solidFill>
                  <a:srgbClr val="D8AD5A"/>
                </a:solidFill>
              </a:rPr>
              <a:t>–</a:t>
            </a:r>
            <a:r>
              <a:rPr lang="hr-HR" dirty="0" err="1">
                <a:solidFill>
                  <a:srgbClr val="D8AD5A"/>
                </a:solidFill>
              </a:rPr>
              <a:t>Controller</a:t>
            </a:r>
            <a:r>
              <a:rPr lang="hr-HR" dirty="0">
                <a:solidFill>
                  <a:srgbClr val="D8AD5A"/>
                </a:solidFill>
              </a:rPr>
              <a:t>) obrazac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b="1" i="1" dirty="0">
                <a:solidFill>
                  <a:srgbClr val="D8AD5A"/>
                </a:solidFill>
              </a:rPr>
              <a:t>Podsustavi: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 err="1">
                <a:solidFill>
                  <a:srgbClr val="D8AD5A"/>
                </a:solidFill>
              </a:rPr>
              <a:t>Autentifikacijski</a:t>
            </a:r>
            <a:r>
              <a:rPr lang="hr-HR" dirty="0">
                <a:solidFill>
                  <a:srgbClr val="D8AD5A"/>
                </a:solidFill>
              </a:rPr>
              <a:t> podsustav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Podsustav za upravljanje profilima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Podsustav za hotelsko poslovanje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Podsustav za hotelsku statistiku</a:t>
            </a:r>
          </a:p>
          <a:p>
            <a:endParaRPr lang="hr-HR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28D37FE6-8CB8-4D7E-B183-D6750923D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58873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65B766E-18CF-40F3-86E5-CB5363F48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rgbClr val="D8AD5A"/>
                </a:solidFill>
              </a:rPr>
              <a:t>Dijagram komponenti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FF0A8987-6F23-4A98-8261-CD87DFA1B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25098C25-6FC6-40E4-BF8A-F4D20E505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080" y="650679"/>
            <a:ext cx="6669839" cy="606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533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0C50499-AA46-4C57-9507-6D2A40FC2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rgbClr val="D8AD5A"/>
                </a:solidFill>
              </a:rPr>
              <a:t>Dijagram razmještaja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D51F7390-18F6-4C80-9CD3-C80319A8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39A20954-2904-4E15-AE4C-4A956F1FC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925" y="709838"/>
            <a:ext cx="5987555" cy="600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002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D390D5A-C40E-461B-A245-E3AF1B85B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67201" y="1509200"/>
            <a:ext cx="7920000" cy="828262"/>
          </a:xfrm>
        </p:spPr>
        <p:txBody>
          <a:bodyPr>
            <a:normAutofit fontScale="90000"/>
          </a:bodyPr>
          <a:lstStyle/>
          <a:p>
            <a:r>
              <a:rPr lang="hr-HR" dirty="0">
                <a:solidFill>
                  <a:srgbClr val="D8AD5A"/>
                </a:solidFill>
              </a:rPr>
              <a:t>Dijagram</a:t>
            </a:r>
            <a:br>
              <a:rPr lang="hr-HR" dirty="0">
                <a:solidFill>
                  <a:srgbClr val="D8AD5A"/>
                </a:solidFill>
              </a:rPr>
            </a:br>
            <a:r>
              <a:rPr lang="hr-HR" dirty="0">
                <a:solidFill>
                  <a:srgbClr val="D8AD5A"/>
                </a:solidFill>
              </a:rPr>
              <a:t> razreda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8ED556BE-84B6-478F-8184-4CE0137D4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5552D127-C145-404C-BBF8-236A4501CB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751" y="68962"/>
            <a:ext cx="7139249" cy="665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340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>
                <a:solidFill>
                  <a:srgbClr val="D8AD5A"/>
                </a:solidFill>
              </a:rPr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404" y="1101038"/>
            <a:ext cx="9000000" cy="5400000"/>
          </a:xfrm>
        </p:spPr>
        <p:txBody>
          <a:bodyPr/>
          <a:lstStyle/>
          <a:p>
            <a:pPr marL="0" indent="0">
              <a:buClr>
                <a:srgbClr val="D8AD5A"/>
              </a:buClr>
              <a:buNone/>
            </a:pPr>
            <a:r>
              <a:rPr lang="hr-HR" sz="3200" b="1" dirty="0">
                <a:solidFill>
                  <a:srgbClr val="D8AD5A"/>
                </a:solidFill>
              </a:rPr>
              <a:t>Organizacija ispitivanja: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endParaRPr lang="hr-HR" sz="3200" b="1" dirty="0">
              <a:solidFill>
                <a:srgbClr val="D8AD5A"/>
              </a:solidFill>
            </a:endParaRPr>
          </a:p>
          <a:p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31B5D8C-D040-405E-8E92-8AEA9430F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404" y="4131159"/>
            <a:ext cx="587071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sr-Latn-RS" altLang="sr-Latn-RS" sz="2400" i="0" u="none" strike="noStrike" cap="none" normalizeH="0" baseline="0" dirty="0">
              <a:ln>
                <a:noFill/>
              </a:ln>
              <a:solidFill>
                <a:srgbClr val="D8AD5A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sr-Latn-RS" altLang="sr-Latn-RS" sz="2400" i="0" u="none" strike="noStrike" cap="none" normalizeH="0" baseline="0" dirty="0">
              <a:ln>
                <a:noFill/>
              </a:ln>
              <a:solidFill>
                <a:srgbClr val="D8AD5A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sr-Latn-RS" altLang="sr-Latn-RS" sz="3200" b="1" dirty="0">
                <a:solidFill>
                  <a:srgbClr val="D8AD5A"/>
                </a:solidFill>
              </a:rPr>
              <a:t>Opseg ispitivanja:</a:t>
            </a:r>
            <a:endParaRPr kumimoji="0" lang="sr-Latn-RS" altLang="sr-Latn-RS" sz="3200" b="1" i="0" u="none" strike="noStrike" cap="none" normalizeH="0" baseline="0" dirty="0">
              <a:ln>
                <a:noFill/>
              </a:ln>
              <a:solidFill>
                <a:srgbClr val="D8AD5A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D8AD5A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sr-Latn-RS" altLang="sr-Latn-RS" sz="2400" i="0" u="none" strike="noStrike" cap="none" normalizeH="0" baseline="0" dirty="0">
                <a:ln>
                  <a:noFill/>
                </a:ln>
                <a:solidFill>
                  <a:srgbClr val="D8AD5A"/>
                </a:solidFill>
                <a:effectLst/>
              </a:rPr>
              <a:t>Ispitivanje komponenti: </a:t>
            </a:r>
            <a:r>
              <a:rPr kumimoji="0" lang="sr-Latn-RS" altLang="sr-Latn-RS" sz="2400" b="1" i="0" u="none" strike="noStrike" cap="none" normalizeH="0" baseline="0" dirty="0">
                <a:ln>
                  <a:noFill/>
                </a:ln>
                <a:solidFill>
                  <a:srgbClr val="D8AD5A"/>
                </a:solidFill>
                <a:effectLst/>
              </a:rPr>
              <a:t>22</a:t>
            </a:r>
            <a:r>
              <a:rPr kumimoji="0" lang="sr-Latn-RS" altLang="sr-Latn-RS" sz="2400" i="0" u="none" strike="noStrike" cap="none" normalizeH="0" baseline="0" dirty="0">
                <a:ln>
                  <a:noFill/>
                </a:ln>
                <a:solidFill>
                  <a:srgbClr val="D8AD5A"/>
                </a:solidFill>
                <a:effectLst/>
              </a:rPr>
              <a:t> </a:t>
            </a:r>
            <a:r>
              <a:rPr kumimoji="0" lang="sr-Latn-RS" altLang="sr-Latn-RS" sz="2400" i="0" u="none" strike="noStrike" cap="none" normalizeH="0" baseline="0" dirty="0" err="1">
                <a:ln>
                  <a:noFill/>
                </a:ln>
                <a:solidFill>
                  <a:srgbClr val="D8AD5A"/>
                </a:solidFill>
                <a:effectLst/>
              </a:rPr>
              <a:t>testna</a:t>
            </a:r>
            <a:r>
              <a:rPr kumimoji="0" lang="sr-Latn-RS" altLang="sr-Latn-RS" sz="2400" i="0" u="none" strike="noStrike" cap="none" normalizeH="0" baseline="0" dirty="0">
                <a:ln>
                  <a:noFill/>
                </a:ln>
                <a:solidFill>
                  <a:srgbClr val="D8AD5A"/>
                </a:solidFill>
                <a:effectLst/>
              </a:rPr>
              <a:t> slučaja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D8AD5A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sr-Latn-RS" altLang="sr-Latn-RS" sz="2400" i="0" u="none" strike="noStrike" cap="none" normalizeH="0" baseline="0" dirty="0">
                <a:ln>
                  <a:noFill/>
                </a:ln>
                <a:solidFill>
                  <a:srgbClr val="D8AD5A"/>
                </a:solidFill>
                <a:effectLst/>
              </a:rPr>
              <a:t>Ispitivanje sustava: </a:t>
            </a:r>
            <a:r>
              <a:rPr kumimoji="0" lang="sr-Latn-RS" altLang="sr-Latn-RS" sz="2400" b="1" i="0" u="none" strike="noStrike" cap="none" normalizeH="0" baseline="0" dirty="0">
                <a:ln>
                  <a:noFill/>
                </a:ln>
                <a:solidFill>
                  <a:srgbClr val="D8AD5A"/>
                </a:solidFill>
                <a:effectLst/>
              </a:rPr>
              <a:t>5</a:t>
            </a:r>
            <a:r>
              <a:rPr kumimoji="0" lang="sr-Latn-RS" altLang="sr-Latn-RS" sz="2400" i="0" u="none" strike="noStrike" cap="none" normalizeH="0" baseline="0" dirty="0">
                <a:ln>
                  <a:noFill/>
                </a:ln>
                <a:solidFill>
                  <a:srgbClr val="D8AD5A"/>
                </a:solidFill>
                <a:effectLst/>
              </a:rPr>
              <a:t> </a:t>
            </a:r>
            <a:r>
              <a:rPr kumimoji="0" lang="sr-Latn-RS" altLang="sr-Latn-RS" sz="2400" i="0" u="none" strike="noStrike" cap="none" normalizeH="0" baseline="0" dirty="0" err="1">
                <a:ln>
                  <a:noFill/>
                </a:ln>
                <a:solidFill>
                  <a:srgbClr val="D8AD5A"/>
                </a:solidFill>
                <a:effectLst/>
              </a:rPr>
              <a:t>testnih</a:t>
            </a:r>
            <a:r>
              <a:rPr kumimoji="0" lang="sr-Latn-RS" altLang="sr-Latn-RS" sz="2400" i="0" u="none" strike="noStrike" cap="none" normalizeH="0" baseline="0" dirty="0">
                <a:ln>
                  <a:noFill/>
                </a:ln>
                <a:solidFill>
                  <a:srgbClr val="D8AD5A"/>
                </a:solidFill>
                <a:effectLst/>
              </a:rPr>
              <a:t> slučajeva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2F7536D-09CC-40BA-8025-6B5AADAAF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404" y="1644096"/>
            <a:ext cx="863824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D8AD5A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sr-Latn-RS" altLang="sr-Latn-RS" sz="2400" b="1" i="0" u="none" strike="noStrike" cap="none" normalizeH="0" baseline="0" dirty="0">
                <a:ln>
                  <a:noFill/>
                </a:ln>
                <a:solidFill>
                  <a:srgbClr val="D8AD5A"/>
                </a:solidFill>
                <a:effectLst/>
              </a:rPr>
              <a:t>Ispitivanje komponenti</a:t>
            </a:r>
            <a:r>
              <a:rPr kumimoji="0" lang="sr-Latn-RS" altLang="sr-Latn-RS" sz="2400" b="0" i="0" u="none" strike="noStrike" cap="none" normalizeH="0" baseline="0" dirty="0">
                <a:ln>
                  <a:noFill/>
                </a:ln>
                <a:solidFill>
                  <a:srgbClr val="D8AD5A"/>
                </a:solidFill>
                <a:effectLst/>
              </a:rPr>
              <a:t> ostvareno pomoću alata </a:t>
            </a:r>
            <a:r>
              <a:rPr kumimoji="0" lang="sr-Latn-RS" altLang="sr-Latn-RS" sz="2400" b="1" i="1" u="none" strike="noStrike" cap="none" normalizeH="0" baseline="0" dirty="0" err="1">
                <a:ln>
                  <a:noFill/>
                </a:ln>
                <a:solidFill>
                  <a:srgbClr val="D8AD5A"/>
                </a:solidFill>
                <a:effectLst/>
              </a:rPr>
              <a:t>JUnit</a:t>
            </a:r>
            <a:r>
              <a:rPr kumimoji="0" lang="sr-Latn-RS" altLang="sr-Latn-RS" sz="2400" b="1" i="1" u="none" strike="noStrike" cap="none" normalizeH="0" baseline="0" dirty="0">
                <a:ln>
                  <a:noFill/>
                </a:ln>
                <a:solidFill>
                  <a:srgbClr val="D8AD5A"/>
                </a:solidFill>
                <a:effectLst/>
              </a:rPr>
              <a:t> 5</a:t>
            </a:r>
            <a:r>
              <a:rPr kumimoji="0" lang="sr-Latn-RS" altLang="sr-Latn-RS" sz="2400" b="0" i="0" u="none" strike="noStrike" cap="none" normalizeH="0" baseline="0" dirty="0">
                <a:ln>
                  <a:noFill/>
                </a:ln>
                <a:solidFill>
                  <a:srgbClr val="D8AD5A"/>
                </a:solidFill>
                <a:effectLst/>
              </a:rPr>
              <a:t> uz </a:t>
            </a:r>
            <a:r>
              <a:rPr kumimoji="0" lang="sr-Latn-RS" altLang="sr-Latn-RS" sz="2400" b="0" i="0" u="none" strike="noStrike" cap="none" normalizeH="0" baseline="0" dirty="0" err="1">
                <a:ln>
                  <a:noFill/>
                </a:ln>
                <a:solidFill>
                  <a:srgbClr val="D8AD5A"/>
                </a:solidFill>
                <a:effectLst/>
              </a:rPr>
              <a:t>korištenje</a:t>
            </a:r>
            <a:r>
              <a:rPr kumimoji="0" lang="sr-Latn-RS" altLang="sr-Latn-RS" sz="2400" b="0" i="0" u="none" strike="noStrike" cap="none" normalizeH="0" baseline="0" dirty="0">
                <a:ln>
                  <a:noFill/>
                </a:ln>
                <a:solidFill>
                  <a:srgbClr val="D8AD5A"/>
                </a:solidFill>
                <a:effectLst/>
              </a:rPr>
              <a:t> biblioteke </a:t>
            </a:r>
            <a:r>
              <a:rPr kumimoji="0" lang="sr-Latn-RS" altLang="sr-Latn-RS" sz="2400" b="1" i="1" u="none" strike="noStrike" cap="none" normalizeH="0" baseline="0" dirty="0" err="1">
                <a:ln>
                  <a:noFill/>
                </a:ln>
                <a:solidFill>
                  <a:srgbClr val="D8AD5A"/>
                </a:solidFill>
                <a:effectLst/>
              </a:rPr>
              <a:t>Mockito</a:t>
            </a:r>
            <a:endParaRPr lang="sr-Latn-RS" altLang="sr-Latn-RS" sz="2400" i="1" dirty="0">
              <a:solidFill>
                <a:srgbClr val="D8AD5A"/>
              </a:solidFill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D8AD5A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sr-Latn-RS" altLang="sr-Latn-RS" sz="2400" b="1" i="0" u="none" strike="noStrike" cap="none" normalizeH="0" baseline="0" dirty="0">
                <a:ln>
                  <a:noFill/>
                </a:ln>
                <a:solidFill>
                  <a:srgbClr val="D8AD5A"/>
                </a:solidFill>
                <a:effectLst/>
              </a:rPr>
              <a:t>Ispitivanje integracije</a:t>
            </a:r>
            <a:r>
              <a:rPr kumimoji="0" lang="sr-Latn-RS" altLang="sr-Latn-RS" sz="2400" b="0" i="0" u="none" strike="noStrike" cap="none" normalizeH="0" baseline="0" dirty="0">
                <a:ln>
                  <a:noFill/>
                </a:ln>
                <a:solidFill>
                  <a:srgbClr val="D8AD5A"/>
                </a:solidFill>
                <a:effectLst/>
              </a:rPr>
              <a:t> ostvareno pomoću </a:t>
            </a:r>
            <a:r>
              <a:rPr kumimoji="0" lang="sr-Latn-RS" altLang="sr-Latn-RS" sz="2400" b="1" i="1" u="none" strike="noStrike" cap="none" normalizeH="0" baseline="0" dirty="0" err="1">
                <a:ln>
                  <a:noFill/>
                </a:ln>
                <a:solidFill>
                  <a:srgbClr val="D8AD5A"/>
                </a:solidFill>
                <a:effectLst/>
              </a:rPr>
              <a:t>Spring</a:t>
            </a:r>
            <a:r>
              <a:rPr kumimoji="0" lang="sr-Latn-RS" altLang="sr-Latn-RS" sz="2400" b="1" i="1" u="none" strike="noStrike" cap="none" normalizeH="0" baseline="0" dirty="0">
                <a:ln>
                  <a:noFill/>
                </a:ln>
                <a:solidFill>
                  <a:srgbClr val="D8AD5A"/>
                </a:solidFill>
                <a:effectLst/>
              </a:rPr>
              <a:t> </a:t>
            </a:r>
            <a:r>
              <a:rPr kumimoji="0" lang="sr-Latn-RS" altLang="sr-Latn-RS" sz="2400" b="1" i="1" u="none" strike="noStrike" cap="none" normalizeH="0" baseline="0" dirty="0" err="1">
                <a:ln>
                  <a:noFill/>
                </a:ln>
                <a:solidFill>
                  <a:srgbClr val="D8AD5A"/>
                </a:solidFill>
                <a:effectLst/>
              </a:rPr>
              <a:t>Boot</a:t>
            </a:r>
            <a:r>
              <a:rPr kumimoji="0" lang="sr-Latn-RS" altLang="sr-Latn-RS" sz="2400" b="1" i="1" u="none" strike="noStrike" cap="none" normalizeH="0" baseline="0" dirty="0">
                <a:ln>
                  <a:noFill/>
                </a:ln>
                <a:solidFill>
                  <a:srgbClr val="D8AD5A"/>
                </a:solidFill>
                <a:effectLst/>
              </a:rPr>
              <a:t> Test</a:t>
            </a:r>
            <a:r>
              <a:rPr kumimoji="0" lang="sr-Latn-RS" altLang="sr-Latn-RS" sz="2400" b="0" i="1" u="none" strike="noStrike" cap="none" normalizeH="0" baseline="0" dirty="0">
                <a:ln>
                  <a:noFill/>
                </a:ln>
                <a:solidFill>
                  <a:srgbClr val="D8AD5A"/>
                </a:solidFill>
                <a:effectLst/>
              </a:rPr>
              <a:t> </a:t>
            </a:r>
            <a:r>
              <a:rPr kumimoji="0" lang="sr-Latn-RS" altLang="sr-Latn-RS" sz="2400" b="0" i="0" u="none" strike="noStrike" cap="none" normalizeH="0" baseline="0" dirty="0">
                <a:ln>
                  <a:noFill/>
                </a:ln>
                <a:solidFill>
                  <a:srgbClr val="D8AD5A"/>
                </a:solidFill>
                <a:effectLst/>
              </a:rPr>
              <a:t>okvira u kombinaciji s alatom </a:t>
            </a:r>
            <a:r>
              <a:rPr kumimoji="0" lang="sr-Latn-RS" altLang="sr-Latn-RS" sz="2400" b="1" i="1" u="none" strike="noStrike" cap="none" normalizeH="0" baseline="0" dirty="0" err="1">
                <a:ln>
                  <a:noFill/>
                </a:ln>
                <a:solidFill>
                  <a:srgbClr val="D8AD5A"/>
                </a:solidFill>
                <a:effectLst/>
              </a:rPr>
              <a:t>MockMvc</a:t>
            </a:r>
            <a:endParaRPr kumimoji="0" lang="sr-Latn-RS" altLang="sr-Latn-RS" sz="2400" b="0" i="1" u="none" strike="noStrike" cap="none" normalizeH="0" baseline="0" dirty="0">
              <a:ln>
                <a:noFill/>
              </a:ln>
              <a:solidFill>
                <a:srgbClr val="D8AD5A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D8AD5A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sr-Latn-RS" altLang="sr-Latn-RS" sz="2400" b="1" i="0" u="none" strike="noStrike" cap="none" normalizeH="0" baseline="0" dirty="0">
                <a:ln>
                  <a:noFill/>
                </a:ln>
                <a:solidFill>
                  <a:srgbClr val="D8AD5A"/>
                </a:solidFill>
                <a:effectLst/>
              </a:rPr>
              <a:t>Ispitivanje sustava</a:t>
            </a:r>
            <a:r>
              <a:rPr kumimoji="0" lang="sr-Latn-RS" altLang="sr-Latn-RS" sz="2400" b="0" i="0" u="none" strike="noStrike" cap="none" normalizeH="0" baseline="0" dirty="0">
                <a:ln>
                  <a:noFill/>
                </a:ln>
                <a:solidFill>
                  <a:srgbClr val="D8AD5A"/>
                </a:solidFill>
                <a:effectLst/>
              </a:rPr>
              <a:t> ostvareno pomoću alata </a:t>
            </a:r>
            <a:r>
              <a:rPr kumimoji="0" lang="sr-Latn-RS" altLang="sr-Latn-RS" sz="2400" b="1" i="1" u="none" strike="noStrike" cap="none" normalizeH="0" baseline="0" dirty="0" err="1">
                <a:ln>
                  <a:noFill/>
                </a:ln>
                <a:solidFill>
                  <a:srgbClr val="D8AD5A"/>
                </a:solidFill>
                <a:effectLst/>
              </a:rPr>
              <a:t>Selenium</a:t>
            </a:r>
            <a:r>
              <a:rPr kumimoji="0" lang="sr-Latn-RS" altLang="sr-Latn-RS" sz="2400" b="1" i="1" u="none" strike="noStrike" cap="none" normalizeH="0" baseline="0" dirty="0">
                <a:ln>
                  <a:noFill/>
                </a:ln>
                <a:solidFill>
                  <a:srgbClr val="D8AD5A"/>
                </a:solidFill>
                <a:effectLst/>
              </a:rPr>
              <a:t> </a:t>
            </a:r>
            <a:r>
              <a:rPr kumimoji="0" lang="sr-Latn-RS" altLang="sr-Latn-RS" sz="2400" b="1" i="1" u="none" strike="noStrike" cap="none" normalizeH="0" baseline="0" dirty="0" err="1">
                <a:ln>
                  <a:noFill/>
                </a:ln>
                <a:solidFill>
                  <a:srgbClr val="D8AD5A"/>
                </a:solidFill>
                <a:effectLst/>
              </a:rPr>
              <a:t>WebDriver</a:t>
            </a:r>
            <a:endParaRPr kumimoji="0" lang="sr-Latn-RS" altLang="sr-Latn-RS" sz="2400" b="0" i="1" u="none" strike="noStrike" cap="none" normalizeH="0" baseline="0" dirty="0">
              <a:ln>
                <a:noFill/>
              </a:ln>
              <a:solidFill>
                <a:srgbClr val="D8AD5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>
                <a:solidFill>
                  <a:srgbClr val="D8AD5A"/>
                </a:solidFill>
              </a:rPr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635" y="1089925"/>
            <a:ext cx="5389453" cy="5694278"/>
          </a:xfrm>
        </p:spPr>
        <p:txBody>
          <a:bodyPr>
            <a:normAutofit fontScale="92500" lnSpcReduction="20000"/>
          </a:bodyPr>
          <a:lstStyle/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React.js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Node.js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JWT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 err="1">
                <a:solidFill>
                  <a:srgbClr val="D8AD5A"/>
                </a:solidFill>
              </a:rPr>
              <a:t>SpringBoot</a:t>
            </a:r>
            <a:endParaRPr lang="hr-HR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 err="1">
                <a:solidFill>
                  <a:srgbClr val="D8AD5A"/>
                </a:solidFill>
              </a:rPr>
              <a:t>Docker</a:t>
            </a:r>
            <a:endParaRPr lang="hr-HR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Azure </a:t>
            </a:r>
            <a:r>
              <a:rPr lang="hr-HR" dirty="0" err="1">
                <a:solidFill>
                  <a:srgbClr val="D8AD5A"/>
                </a:solidFill>
              </a:rPr>
              <a:t>Cloud</a:t>
            </a:r>
            <a:r>
              <a:rPr lang="hr-HR" dirty="0">
                <a:solidFill>
                  <a:srgbClr val="D8AD5A"/>
                </a:solidFill>
              </a:rPr>
              <a:t> Linux VM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NGINX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 err="1">
                <a:solidFill>
                  <a:srgbClr val="D8AD5A"/>
                </a:solidFill>
              </a:rPr>
              <a:t>ERDplus</a:t>
            </a:r>
            <a:endParaRPr lang="hr-HR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 err="1">
                <a:solidFill>
                  <a:srgbClr val="D8AD5A"/>
                </a:solidFill>
              </a:rPr>
              <a:t>PostgreSQL</a:t>
            </a:r>
            <a:endParaRPr lang="hr-HR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 err="1">
                <a:solidFill>
                  <a:srgbClr val="D8AD5A"/>
                </a:solidFill>
              </a:rPr>
              <a:t>IntelliJ</a:t>
            </a:r>
            <a:r>
              <a:rPr lang="hr-HR" dirty="0">
                <a:solidFill>
                  <a:srgbClr val="D8AD5A"/>
                </a:solidFill>
              </a:rPr>
              <a:t> IDEA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Azure </a:t>
            </a:r>
            <a:r>
              <a:rPr lang="hr-HR" dirty="0" err="1">
                <a:solidFill>
                  <a:srgbClr val="D8AD5A"/>
                </a:solidFill>
              </a:rPr>
              <a:t>Database</a:t>
            </a:r>
            <a:r>
              <a:rPr lang="hr-HR" dirty="0">
                <a:solidFill>
                  <a:srgbClr val="D8AD5A"/>
                </a:solidFill>
              </a:rPr>
              <a:t> for </a:t>
            </a:r>
            <a:r>
              <a:rPr lang="hr-HR" dirty="0" err="1">
                <a:solidFill>
                  <a:srgbClr val="D8AD5A"/>
                </a:solidFill>
              </a:rPr>
              <a:t>PostgreSQL</a:t>
            </a:r>
            <a:endParaRPr lang="hr-HR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Google </a:t>
            </a:r>
            <a:r>
              <a:rPr lang="hr-HR" dirty="0" err="1">
                <a:solidFill>
                  <a:srgbClr val="D8AD5A"/>
                </a:solidFill>
              </a:rPr>
              <a:t>Maps</a:t>
            </a:r>
            <a:endParaRPr lang="hr-HR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 err="1">
                <a:solidFill>
                  <a:srgbClr val="D8AD5A"/>
                </a:solidFill>
              </a:rPr>
              <a:t>Astah</a:t>
            </a:r>
            <a:r>
              <a:rPr lang="hr-HR" dirty="0">
                <a:solidFill>
                  <a:srgbClr val="D8AD5A"/>
                </a:solidFill>
              </a:rPr>
              <a:t> UML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14</a:t>
            </a:fld>
            <a:endParaRPr lang="hr-HR" dirty="0"/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7C75B22F-F1E7-4A34-AF45-B85C87578544}"/>
              </a:ext>
            </a:extLst>
          </p:cNvPr>
          <p:cNvSpPr txBox="1"/>
          <p:nvPr/>
        </p:nvSpPr>
        <p:spPr>
          <a:xfrm>
            <a:off x="3850640" y="1300480"/>
            <a:ext cx="4698620" cy="4988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r-HR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73A7A70-0F36-4967-B986-AED83444AD07}"/>
              </a:ext>
            </a:extLst>
          </p:cNvPr>
          <p:cNvSpPr txBox="1">
            <a:spLocks/>
          </p:cNvSpPr>
          <p:nvPr/>
        </p:nvSpPr>
        <p:spPr>
          <a:xfrm>
            <a:off x="5318338" y="1094903"/>
            <a:ext cx="3520545" cy="569427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2500" lnSpcReduction="20000"/>
          </a:bodyPr>
          <a:lstStyle>
            <a:lvl1pPr marL="266700" indent="-266700" algn="l" defTabSz="257175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2400" kern="120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6900" indent="-342900" algn="l" defTabSz="257175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6250" indent="-15187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86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1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87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2375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4062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750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Draw.io/diagrams.net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 err="1">
                <a:solidFill>
                  <a:srgbClr val="D8AD5A"/>
                </a:solidFill>
              </a:rPr>
              <a:t>PlantUML</a:t>
            </a:r>
            <a:endParaRPr lang="hr-HR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dbdiagram.io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 err="1">
                <a:solidFill>
                  <a:srgbClr val="D8AD5A"/>
                </a:solidFill>
              </a:rPr>
              <a:t>Mockito</a:t>
            </a:r>
            <a:endParaRPr lang="hr-HR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 err="1">
                <a:solidFill>
                  <a:srgbClr val="D8AD5A"/>
                </a:solidFill>
              </a:rPr>
              <a:t>Selenium</a:t>
            </a:r>
            <a:endParaRPr lang="hr-HR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 err="1">
                <a:solidFill>
                  <a:srgbClr val="D8AD5A"/>
                </a:solidFill>
              </a:rPr>
              <a:t>ChatGPT</a:t>
            </a:r>
            <a:endParaRPr lang="hr-HR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 err="1">
                <a:solidFill>
                  <a:srgbClr val="D8AD5A"/>
                </a:solidFill>
              </a:rPr>
              <a:t>Gemini</a:t>
            </a:r>
            <a:endParaRPr lang="hr-HR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 err="1">
                <a:solidFill>
                  <a:srgbClr val="D8AD5A"/>
                </a:solidFill>
              </a:rPr>
              <a:t>Claude</a:t>
            </a:r>
            <a:endParaRPr lang="hr-HR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 err="1">
                <a:solidFill>
                  <a:srgbClr val="D8AD5A"/>
                </a:solidFill>
              </a:rPr>
              <a:t>WhatsApp</a:t>
            </a:r>
            <a:endParaRPr lang="hr-HR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 err="1">
                <a:solidFill>
                  <a:srgbClr val="D8AD5A"/>
                </a:solidFill>
              </a:rPr>
              <a:t>Discord</a:t>
            </a:r>
            <a:endParaRPr lang="hr-HR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Microsoft Word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 err="1">
                <a:solidFill>
                  <a:srgbClr val="D8AD5A"/>
                </a:solidFill>
              </a:rPr>
              <a:t>Git</a:t>
            </a:r>
            <a:endParaRPr lang="hr-HR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 err="1">
                <a:solidFill>
                  <a:srgbClr val="D8AD5A"/>
                </a:solidFill>
              </a:rPr>
              <a:t>GitHub</a:t>
            </a:r>
            <a:endParaRPr lang="hr-HR" dirty="0">
              <a:solidFill>
                <a:srgbClr val="D8AD5A"/>
              </a:solidFill>
            </a:endParaRP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963F78B-BED5-4EA5-8966-36B882F53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rgbClr val="D8AD5A"/>
                </a:solidFill>
              </a:rPr>
              <a:t>Organizacija rada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E66FAB2-06E6-458A-A786-6B74B4488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Neprogramski (organizacijski) zadaci</a:t>
            </a:r>
          </a:p>
          <a:p>
            <a:pPr lvl="1"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Komunikacija: sastanci uživo, </a:t>
            </a:r>
            <a:r>
              <a:rPr lang="hr-HR" dirty="0" err="1">
                <a:solidFill>
                  <a:srgbClr val="D8AD5A"/>
                </a:solidFill>
              </a:rPr>
              <a:t>Discord</a:t>
            </a:r>
            <a:r>
              <a:rPr lang="hr-HR" dirty="0">
                <a:solidFill>
                  <a:srgbClr val="D8AD5A"/>
                </a:solidFill>
              </a:rPr>
              <a:t>, </a:t>
            </a:r>
            <a:r>
              <a:rPr lang="hr-HR" dirty="0" err="1">
                <a:solidFill>
                  <a:srgbClr val="D8AD5A"/>
                </a:solidFill>
              </a:rPr>
              <a:t>WhatsApp</a:t>
            </a:r>
            <a:endParaRPr lang="hr-HR" dirty="0">
              <a:solidFill>
                <a:srgbClr val="D8AD5A"/>
              </a:solidFill>
            </a:endParaRPr>
          </a:p>
          <a:p>
            <a:pPr lvl="1"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Upoznavanje s </a:t>
            </a:r>
            <a:r>
              <a:rPr lang="hr-HR" dirty="0" err="1">
                <a:solidFill>
                  <a:srgbClr val="D8AD5A"/>
                </a:solidFill>
              </a:rPr>
              <a:t>GitHubom</a:t>
            </a:r>
            <a:r>
              <a:rPr lang="hr-HR" dirty="0">
                <a:solidFill>
                  <a:srgbClr val="D8AD5A"/>
                </a:solidFill>
              </a:rPr>
              <a:t> i usvajanje tehnika njegovog korištenja - izazovno</a:t>
            </a:r>
          </a:p>
          <a:p>
            <a:pPr lvl="1">
              <a:buClr>
                <a:srgbClr val="D8AD5A"/>
              </a:buClr>
              <a:buFont typeface="Wingdings" panose="05000000000000000000" pitchFamily="2" charset="2"/>
              <a:buChar char="§"/>
            </a:pPr>
            <a:endParaRPr lang="hr-HR" dirty="0">
              <a:solidFill>
                <a:srgbClr val="D8AD5A"/>
              </a:solidFill>
            </a:endParaRPr>
          </a:p>
          <a:p>
            <a:pPr lvl="1"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Primijenjeni model životnog ciklusa: </a:t>
            </a:r>
            <a:r>
              <a:rPr lang="hr-HR" dirty="0" err="1">
                <a:solidFill>
                  <a:srgbClr val="D8AD5A"/>
                </a:solidFill>
              </a:rPr>
              <a:t>vodopadni</a:t>
            </a:r>
            <a:r>
              <a:rPr lang="hr-HR" dirty="0">
                <a:solidFill>
                  <a:srgbClr val="D8AD5A"/>
                </a:solidFill>
              </a:rPr>
              <a:t> model</a:t>
            </a:r>
          </a:p>
          <a:p>
            <a:pPr lvl="1">
              <a:buClr>
                <a:srgbClr val="D8AD5A"/>
              </a:buClr>
              <a:buFont typeface="Wingdings" panose="05000000000000000000" pitchFamily="2" charset="2"/>
              <a:buChar char="§"/>
            </a:pPr>
            <a:endParaRPr lang="hr-HR" dirty="0">
              <a:solidFill>
                <a:srgbClr val="D8AD5A"/>
              </a:solidFill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Vremenski okvir razvoja</a:t>
            </a:r>
          </a:p>
          <a:p>
            <a:pPr lvl="1"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Trajanje: 15 tjedana</a:t>
            </a:r>
          </a:p>
          <a:p>
            <a:pPr lvl="1"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b="1" i="1" dirty="0">
                <a:solidFill>
                  <a:srgbClr val="D8AD5A"/>
                </a:solidFill>
              </a:rPr>
              <a:t>Okvirna organizacija rada na ovom projektu</a:t>
            </a:r>
            <a:r>
              <a:rPr lang="hr-HR" dirty="0">
                <a:solidFill>
                  <a:srgbClr val="D8AD5A"/>
                </a:solidFill>
              </a:rPr>
              <a:t>:</a:t>
            </a:r>
          </a:p>
          <a:p>
            <a:pPr lvl="1"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Prva faza: raspodjela uloga u timu, postavljanje </a:t>
            </a:r>
            <a:r>
              <a:rPr lang="hr-HR" dirty="0" err="1">
                <a:solidFill>
                  <a:srgbClr val="D8AD5A"/>
                </a:solidFill>
              </a:rPr>
              <a:t>GitHub</a:t>
            </a:r>
            <a:r>
              <a:rPr lang="hr-HR" dirty="0">
                <a:solidFill>
                  <a:srgbClr val="D8AD5A"/>
                </a:solidFill>
              </a:rPr>
              <a:t>-a, izrada većine dokumentacije (zahtjevi, dijagrami itd.), prve funkcionalnosti</a:t>
            </a:r>
          </a:p>
          <a:p>
            <a:pPr lvl="1"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</a:rPr>
              <a:t>Druga faza: postepena implementacija svih funkcionalnosti,  dopunjavanje dokumentacije, ispitivanje i testiranje, izrada finalne verzije i priprema za prezentaciju</a:t>
            </a:r>
          </a:p>
          <a:p>
            <a:endParaRPr lang="hr-HR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1A445137-0F92-405A-B9F1-47D47E3BA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14523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480C28C-E995-4A1B-B4FD-E9DB58A32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r-HR" dirty="0">
                <a:solidFill>
                  <a:srgbClr val="D8AD5A"/>
                </a:solidFill>
              </a:rPr>
              <a:t>Tablica raščlambe zadataka članova s procijenjenim naporom u satima 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8241880A-98A9-41BA-9E0C-85A19720A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16</a:t>
            </a:fld>
            <a:endParaRPr lang="hr-HR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A10153FE-3F2F-4863-ABA0-7F56AF3656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042"/>
          <a:stretch/>
        </p:blipFill>
        <p:spPr>
          <a:xfrm>
            <a:off x="0" y="982307"/>
            <a:ext cx="4606724" cy="3428817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49403E78-081A-4B3F-AAA4-FBD79791C4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042"/>
          <a:stretch/>
        </p:blipFill>
        <p:spPr>
          <a:xfrm>
            <a:off x="4540917" y="3395892"/>
            <a:ext cx="4603083" cy="342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909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>
                <a:solidFill>
                  <a:srgbClr val="D8AD5A"/>
                </a:solidFill>
              </a:rPr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684" y="1101038"/>
            <a:ext cx="9000000" cy="5400000"/>
          </a:xfrm>
        </p:spPr>
        <p:txBody>
          <a:bodyPr>
            <a:normAutofit fontScale="92500"/>
          </a:bodyPr>
          <a:lstStyle/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b="1" i="1" dirty="0">
                <a:solidFill>
                  <a:srgbClr val="D8AD5A"/>
                </a:solidFill>
                <a:sym typeface="Wingdings" panose="05000000000000000000" pitchFamily="2" charset="2"/>
              </a:rPr>
              <a:t>Što je bilo dobro: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noProof="0" dirty="0">
                <a:solidFill>
                  <a:srgbClr val="D8AD5A"/>
                </a:solidFill>
                <a:sym typeface="Wingdings" panose="05000000000000000000" pitchFamily="2" charset="2"/>
              </a:rPr>
              <a:t>Članovi tima </a:t>
            </a:r>
            <a:r>
              <a:rPr lang="hr-HR" dirty="0">
                <a:solidFill>
                  <a:srgbClr val="D8AD5A"/>
                </a:solidFill>
                <a:sym typeface="Wingdings" panose="05000000000000000000" pitchFamily="2" charset="2"/>
              </a:rPr>
              <a:t>redovito su komunicirali i svi su odrađivali svoj posao u dogovorenom roku te si međusobno pomagali i za ove dijelove koji nisu njihov posao, ukoliko netko nešto nije mogao napraviti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noProof="0" dirty="0">
                <a:solidFill>
                  <a:srgbClr val="D8AD5A"/>
                </a:solidFill>
                <a:sym typeface="Wingdings" panose="05000000000000000000" pitchFamily="2" charset="2"/>
              </a:rPr>
              <a:t>Naučen rad s novim tehnologijama i </a:t>
            </a:r>
            <a:r>
              <a:rPr lang="hr-HR" dirty="0">
                <a:solidFill>
                  <a:srgbClr val="D8AD5A"/>
                </a:solidFill>
                <a:sym typeface="Wingdings" panose="05000000000000000000" pitchFamily="2" charset="2"/>
              </a:rPr>
              <a:t>usvojene nove vještine komunikacije te organizacije rada na projektu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endParaRPr lang="hr-HR" noProof="0" dirty="0">
              <a:solidFill>
                <a:srgbClr val="D8AD5A"/>
              </a:solidFill>
              <a:sym typeface="Wingdings" panose="05000000000000000000" pitchFamily="2" charset="2"/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b="1" i="1" dirty="0">
                <a:solidFill>
                  <a:srgbClr val="D8AD5A"/>
                </a:solidFill>
                <a:sym typeface="Wingdings" panose="05000000000000000000" pitchFamily="2" charset="2"/>
              </a:rPr>
              <a:t>Gdje ima mjesta za napredak: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noProof="0" dirty="0">
                <a:solidFill>
                  <a:srgbClr val="D8AD5A"/>
                </a:solidFill>
                <a:sym typeface="Wingdings" panose="05000000000000000000" pitchFamily="2" charset="2"/>
              </a:rPr>
              <a:t>Još jasnije definirati zadatke po članovima kako ne bi bilo preklapanja i uzaludnog posla</a:t>
            </a: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D8AD5A"/>
                </a:solidFill>
                <a:sym typeface="Wingdings" panose="05000000000000000000" pitchFamily="2" charset="2"/>
              </a:rPr>
              <a:t>Dodati još neke funkcionalnosti u aplikaciju, npr. mogućnost da </a:t>
            </a:r>
            <a:r>
              <a:rPr lang="hr-HR" dirty="0" err="1">
                <a:solidFill>
                  <a:srgbClr val="D8AD5A"/>
                </a:solidFill>
                <a:sym typeface="Wingdings" panose="05000000000000000000" pitchFamily="2" charset="2"/>
              </a:rPr>
              <a:t>admin</a:t>
            </a:r>
            <a:r>
              <a:rPr lang="hr-HR" dirty="0">
                <a:solidFill>
                  <a:srgbClr val="D8AD5A"/>
                </a:solidFill>
                <a:sym typeface="Wingdings" panose="05000000000000000000" pitchFamily="2" charset="2"/>
              </a:rPr>
              <a:t> hotela kroz jednostavno sučelje prilagodi izgled početne stranice</a:t>
            </a:r>
            <a:endParaRPr lang="hr-HR" noProof="0" dirty="0">
              <a:solidFill>
                <a:srgbClr val="D8AD5A"/>
              </a:solidFill>
              <a:sym typeface="Wingdings" panose="05000000000000000000" pitchFamily="2" charset="2"/>
            </a:endParaRPr>
          </a:p>
          <a:p>
            <a:pPr>
              <a:buClr>
                <a:srgbClr val="D8AD5A"/>
              </a:buClr>
              <a:buFont typeface="Wingdings" panose="05000000000000000000" pitchFamily="2" charset="2"/>
              <a:buChar char="§"/>
            </a:pPr>
            <a:endParaRPr lang="hr-HR" noProof="0" dirty="0">
              <a:sym typeface="Wingdings" panose="05000000000000000000" pitchFamily="2" charset="2"/>
            </a:endParaRPr>
          </a:p>
          <a:p>
            <a:pPr lvl="1"/>
            <a:endParaRPr lang="hr-HR" noProof="0" dirty="0">
              <a:sym typeface="Wingdings" panose="05000000000000000000" pitchFamily="2" charset="2"/>
            </a:endParaRP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17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5406</TotalTime>
  <Words>745</Words>
  <Application>Microsoft Office PowerPoint</Application>
  <PresentationFormat>Prikaz na zaslonu (4:3)</PresentationFormat>
  <Paragraphs>157</Paragraphs>
  <Slides>17</Slides>
  <Notes>4</Notes>
  <HiddenSlides>0</HiddenSlides>
  <MMClips>0</MMClips>
  <ScaleCrop>false</ScaleCrop>
  <HeadingPairs>
    <vt:vector size="6" baseType="variant">
      <vt:variant>
        <vt:lpstr>Korišteni fontovi</vt:lpstr>
      </vt:variant>
      <vt:variant>
        <vt:i4>13</vt:i4>
      </vt:variant>
      <vt:variant>
        <vt:lpstr>Tema</vt:lpstr>
      </vt:variant>
      <vt:variant>
        <vt:i4>2</vt:i4>
      </vt:variant>
      <vt:variant>
        <vt:lpstr>Naslovi slajdova</vt:lpstr>
      </vt:variant>
      <vt:variant>
        <vt:i4>17</vt:i4>
      </vt:variant>
    </vt:vector>
  </HeadingPairs>
  <TitlesOfParts>
    <vt:vector size="32" baseType="lpstr">
      <vt:lpstr>ＭＳ Ｐゴシック</vt:lpstr>
      <vt:lpstr>Amiri Quran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Quantum HOTEL</vt:lpstr>
      <vt:lpstr>Sadržaj</vt:lpstr>
      <vt:lpstr>Članovi tima</vt:lpstr>
      <vt:lpstr>O projektu</vt:lpstr>
      <vt:lpstr>PREGLED ZAHTJEVA – Funkcionalni zahtjevi</vt:lpstr>
      <vt:lpstr>Pregled zahtjeva - NEFUNKCIONALNI ZAHTJEVI</vt:lpstr>
      <vt:lpstr>UML dijagram obrazaca uporabe</vt:lpstr>
      <vt:lpstr>Sekvencijski dijagram  - rezervacija</vt:lpstr>
      <vt:lpstr>Arhitektura sustava</vt:lpstr>
      <vt:lpstr>Dijagram komponenti</vt:lpstr>
      <vt:lpstr>Dijagram razmještaja</vt:lpstr>
      <vt:lpstr>Dijagram  razreda</vt:lpstr>
      <vt:lpstr>Ispitivanje</vt:lpstr>
      <vt:lpstr>Korišteni alati i tehnologije</vt:lpstr>
      <vt:lpstr>Organizacija rada</vt:lpstr>
      <vt:lpstr>Tablica raščlambe zadataka članova s procijenjenim naporom u satima 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Dina</cp:lastModifiedBy>
  <cp:revision>44</cp:revision>
  <dcterms:created xsi:type="dcterms:W3CDTF">2016-01-18T13:10:52Z</dcterms:created>
  <dcterms:modified xsi:type="dcterms:W3CDTF">2026-01-23T10:22:15Z</dcterms:modified>
</cp:coreProperties>
</file>